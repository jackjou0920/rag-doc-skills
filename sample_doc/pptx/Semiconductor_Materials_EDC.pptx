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5" r:id="rId11"/>
    <p:sldId id="274" r:id="rId12"/>
    <p:sldId id="276" r:id="rId13"/>
    <p:sldId id="277" r:id="rId14"/>
    <p:sldId id="278" r:id="rId15"/>
    <p:sldId id="265" r:id="rId16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/>
    <p:restoredTop sz="94434" autoAdjust="0"/>
  </p:normalViewPr>
  <p:slideViewPr>
    <p:cSldViewPr>
      <p:cViewPr varScale="1">
        <p:scale>
          <a:sx n="73" d="100"/>
          <a:sy n="73" d="100"/>
        </p:scale>
        <p:origin x="-1296" y="-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6B53BD-95BB-4BCD-B6F1-4BDC733D7D6C}" type="datetimeFigureOut">
              <a:rPr lang="en-US" smtClean="0"/>
              <a:pPr/>
              <a:t>12/16/2024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551C80-6D96-4743-874F-8BC4E0006A0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07616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551C80-6D96-4743-874F-8BC4E0006A00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41036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4D5A6E"/>
                </a:solidFill>
                <a:latin typeface="Century Schoolbook"/>
                <a:cs typeface="Century Schoolbook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D2808-18A1-42AC-8388-1C8053046B47}" type="datetime1">
              <a:rPr lang="en-US" smtClean="0"/>
              <a:t>12/16/2024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Century Schoolbook"/>
                <a:cs typeface="Century Schoolbook"/>
              </a:defRPr>
            </a:lvl1pPr>
          </a:lstStyle>
          <a:p>
            <a:pPr marL="381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dirty="0"/>
              <a:pPr marL="38100">
                <a:lnSpc>
                  <a:spcPct val="100000"/>
                </a:lnSpc>
                <a:spcBef>
                  <a:spcPts val="80"/>
                </a:spcBef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1" u="sng">
                <a:solidFill>
                  <a:schemeClr val="tx1"/>
                </a:solidFill>
                <a:latin typeface="Century Schoolbook"/>
                <a:cs typeface="Century Schoolboo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1">
                <a:solidFill>
                  <a:schemeClr val="tx1"/>
                </a:solidFill>
                <a:latin typeface="Century Schoolbook"/>
                <a:cs typeface="Century Schoolboo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4D5A6E"/>
                </a:solidFill>
                <a:latin typeface="Century Schoolbook"/>
                <a:cs typeface="Century Schoolbook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67D859-DB2E-4D41-A950-82EC91CF7263}" type="datetime1">
              <a:rPr lang="en-US" smtClean="0"/>
              <a:t>12/16/2024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Century Schoolbook"/>
                <a:cs typeface="Century Schoolbook"/>
              </a:defRPr>
            </a:lvl1pPr>
          </a:lstStyle>
          <a:p>
            <a:pPr marL="381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dirty="0"/>
              <a:pPr marL="38100">
                <a:lnSpc>
                  <a:spcPct val="100000"/>
                </a:lnSpc>
                <a:spcBef>
                  <a:spcPts val="80"/>
                </a:spcBef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1" u="sng">
                <a:solidFill>
                  <a:schemeClr val="tx1"/>
                </a:solidFill>
                <a:latin typeface="Century Schoolbook"/>
                <a:cs typeface="Century Schoolboo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4D5A6E"/>
                </a:solidFill>
                <a:latin typeface="Century Schoolbook"/>
                <a:cs typeface="Century Schoolbook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0881C7-3BA3-4670-BF22-07D2B41189E1}" type="datetime1">
              <a:rPr lang="en-US" smtClean="0"/>
              <a:t>12/16/2024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Century Schoolbook"/>
                <a:cs typeface="Century Schoolbook"/>
              </a:defRPr>
            </a:lvl1pPr>
          </a:lstStyle>
          <a:p>
            <a:pPr marL="381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dirty="0"/>
              <a:pPr marL="38100">
                <a:lnSpc>
                  <a:spcPct val="100000"/>
                </a:lnSpc>
                <a:spcBef>
                  <a:spcPts val="80"/>
                </a:spcBef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1" u="sng">
                <a:solidFill>
                  <a:schemeClr val="tx1"/>
                </a:solidFill>
                <a:latin typeface="Century Schoolbook"/>
                <a:cs typeface="Century Schoolboo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4D5A6E"/>
                </a:solidFill>
                <a:latin typeface="Century Schoolbook"/>
                <a:cs typeface="Century Schoolbook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endParaRPr spc="-5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4C9B96-6DCC-407D-86A0-7077A9FD0B23}" type="datetime1">
              <a:rPr lang="en-US" smtClean="0"/>
              <a:t>12/16/2024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Century Schoolbook"/>
                <a:cs typeface="Century Schoolbook"/>
              </a:defRPr>
            </a:lvl1pPr>
          </a:lstStyle>
          <a:p>
            <a:pPr marL="381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dirty="0"/>
              <a:pPr marL="38100">
                <a:lnSpc>
                  <a:spcPct val="100000"/>
                </a:lnSpc>
                <a:spcBef>
                  <a:spcPts val="80"/>
                </a:spcBef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4D5A6E"/>
                </a:solidFill>
                <a:latin typeface="Century Schoolbook"/>
                <a:cs typeface="Century Schoolbook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endParaRPr spc="-5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404EA2-9AF6-4919-BBB0-0DE9F74EA3A8}" type="datetime1">
              <a:rPr lang="en-US" smtClean="0"/>
              <a:t>12/16/2024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Century Schoolbook"/>
                <a:cs typeface="Century Schoolbook"/>
              </a:defRPr>
            </a:lvl1pPr>
          </a:lstStyle>
          <a:p>
            <a:pPr marL="381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dirty="0"/>
              <a:pPr marL="38100">
                <a:lnSpc>
                  <a:spcPct val="100000"/>
                </a:lnSpc>
                <a:spcBef>
                  <a:spcPts val="80"/>
                </a:spcBef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7630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38097">
            <a:solidFill>
              <a:srgbClr val="BFE4A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155940" y="5715000"/>
            <a:ext cx="549910" cy="549910"/>
          </a:xfrm>
          <a:custGeom>
            <a:avLst/>
            <a:gdLst/>
            <a:ahLst/>
            <a:cxnLst/>
            <a:rect l="l" t="t" r="r" b="b"/>
            <a:pathLst>
              <a:path w="549909" h="549910">
                <a:moveTo>
                  <a:pt x="275589" y="0"/>
                </a:moveTo>
                <a:lnTo>
                  <a:pt x="224997" y="4306"/>
                </a:lnTo>
                <a:lnTo>
                  <a:pt x="177812" y="16766"/>
                </a:lnTo>
                <a:lnTo>
                  <a:pt x="134714" y="36688"/>
                </a:lnTo>
                <a:lnTo>
                  <a:pt x="96382" y="63385"/>
                </a:lnTo>
                <a:lnTo>
                  <a:pt x="63496" y="96164"/>
                </a:lnTo>
                <a:lnTo>
                  <a:pt x="36735" y="134337"/>
                </a:lnTo>
                <a:lnTo>
                  <a:pt x="16780" y="177214"/>
                </a:lnTo>
                <a:lnTo>
                  <a:pt x="4308" y="224105"/>
                </a:lnTo>
                <a:lnTo>
                  <a:pt x="0" y="274319"/>
                </a:lnTo>
                <a:lnTo>
                  <a:pt x="4308" y="324912"/>
                </a:lnTo>
                <a:lnTo>
                  <a:pt x="16780" y="372097"/>
                </a:lnTo>
                <a:lnTo>
                  <a:pt x="36735" y="415195"/>
                </a:lnTo>
                <a:lnTo>
                  <a:pt x="63496" y="453527"/>
                </a:lnTo>
                <a:lnTo>
                  <a:pt x="96382" y="486413"/>
                </a:lnTo>
                <a:lnTo>
                  <a:pt x="134714" y="513174"/>
                </a:lnTo>
                <a:lnTo>
                  <a:pt x="177812" y="533129"/>
                </a:lnTo>
                <a:lnTo>
                  <a:pt x="224997" y="545601"/>
                </a:lnTo>
                <a:lnTo>
                  <a:pt x="275589" y="549910"/>
                </a:lnTo>
                <a:lnTo>
                  <a:pt x="325804" y="545601"/>
                </a:lnTo>
                <a:lnTo>
                  <a:pt x="372695" y="533129"/>
                </a:lnTo>
                <a:lnTo>
                  <a:pt x="415572" y="513174"/>
                </a:lnTo>
                <a:lnTo>
                  <a:pt x="453745" y="486413"/>
                </a:lnTo>
                <a:lnTo>
                  <a:pt x="486524" y="453527"/>
                </a:lnTo>
                <a:lnTo>
                  <a:pt x="513221" y="415195"/>
                </a:lnTo>
                <a:lnTo>
                  <a:pt x="533143" y="372097"/>
                </a:lnTo>
                <a:lnTo>
                  <a:pt x="545603" y="324912"/>
                </a:lnTo>
                <a:lnTo>
                  <a:pt x="549909" y="274319"/>
                </a:lnTo>
                <a:lnTo>
                  <a:pt x="545603" y="224105"/>
                </a:lnTo>
                <a:lnTo>
                  <a:pt x="533143" y="177214"/>
                </a:lnTo>
                <a:lnTo>
                  <a:pt x="513221" y="134337"/>
                </a:lnTo>
                <a:lnTo>
                  <a:pt x="486524" y="96164"/>
                </a:lnTo>
                <a:lnTo>
                  <a:pt x="453745" y="63385"/>
                </a:lnTo>
                <a:lnTo>
                  <a:pt x="415572" y="36688"/>
                </a:lnTo>
                <a:lnTo>
                  <a:pt x="372695" y="16766"/>
                </a:lnTo>
                <a:lnTo>
                  <a:pt x="325804" y="4306"/>
                </a:lnTo>
                <a:lnTo>
                  <a:pt x="275589" y="0"/>
                </a:lnTo>
                <a:close/>
              </a:path>
            </a:pathLst>
          </a:custGeom>
          <a:solidFill>
            <a:srgbClr val="7ED0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62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57146">
            <a:solidFill>
              <a:srgbClr val="BFE4A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839200" y="0"/>
            <a:ext cx="304800" cy="6858000"/>
          </a:xfrm>
          <a:custGeom>
            <a:avLst/>
            <a:gdLst/>
            <a:ahLst/>
            <a:cxnLst/>
            <a:rect l="l" t="t" r="r" b="b"/>
            <a:pathLst>
              <a:path w="304800" h="6858000">
                <a:moveTo>
                  <a:pt x="304800" y="0"/>
                </a:moveTo>
                <a:lnTo>
                  <a:pt x="0" y="0"/>
                </a:lnTo>
                <a:lnTo>
                  <a:pt x="0" y="6858000"/>
                </a:lnTo>
                <a:lnTo>
                  <a:pt x="304800" y="6858000"/>
                </a:lnTo>
                <a:close/>
              </a:path>
            </a:pathLst>
          </a:custGeom>
          <a:solidFill>
            <a:srgbClr val="BFE4AE">
              <a:alpha val="86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154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9344">
            <a:solidFill>
              <a:srgbClr val="7ED0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0869" y="149859"/>
            <a:ext cx="408622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1" u="sng">
                <a:solidFill>
                  <a:schemeClr val="tx1"/>
                </a:solidFill>
                <a:latin typeface="Century Schoolbook"/>
                <a:cs typeface="Century Schoolboo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2440" y="1333500"/>
            <a:ext cx="5503545" cy="2219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1">
                <a:solidFill>
                  <a:schemeClr val="tx1"/>
                </a:solidFill>
                <a:latin typeface="Century Schoolbook"/>
                <a:cs typeface="Century Schoolboo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863850" y="6009258"/>
            <a:ext cx="2820035" cy="2089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4D5A6E"/>
                </a:solidFill>
                <a:latin typeface="Century Schoolbook"/>
                <a:cs typeface="Century Schoolbook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C61433-542A-4A9D-8AA2-4BA69F918BF0}" type="datetime1">
              <a:rPr lang="en-US" smtClean="0"/>
              <a:t>12/16/2024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94369" y="5877537"/>
            <a:ext cx="281304" cy="239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Century Schoolbook"/>
                <a:cs typeface="Century Schoolbook"/>
              </a:defRPr>
            </a:lvl1pPr>
          </a:lstStyle>
          <a:p>
            <a:pPr marL="381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dirty="0"/>
              <a:pPr marL="38100">
                <a:lnSpc>
                  <a:spcPct val="100000"/>
                </a:lnSpc>
                <a:spcBef>
                  <a:spcPts val="80"/>
                </a:spcBef>
              </a:pPr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000" y="0"/>
            <a:ext cx="443865" cy="6858000"/>
          </a:xfrm>
          <a:custGeom>
            <a:avLst/>
            <a:gdLst/>
            <a:ahLst/>
            <a:cxnLst/>
            <a:rect l="l" t="t" r="r" b="b"/>
            <a:pathLst>
              <a:path w="443865" h="6858000">
                <a:moveTo>
                  <a:pt x="0" y="6858000"/>
                </a:moveTo>
                <a:lnTo>
                  <a:pt x="443866" y="6858000"/>
                </a:lnTo>
                <a:lnTo>
                  <a:pt x="44386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BFE4AE">
              <a:alpha val="5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82013" y="0"/>
            <a:ext cx="3810" cy="6858000"/>
          </a:xfrm>
          <a:custGeom>
            <a:avLst/>
            <a:gdLst/>
            <a:ahLst/>
            <a:cxnLst/>
            <a:rect l="l" t="t" r="r" b="b"/>
            <a:pathLst>
              <a:path w="3809" h="6858000">
                <a:moveTo>
                  <a:pt x="0" y="6858000"/>
                </a:moveTo>
                <a:lnTo>
                  <a:pt x="3813" y="6858000"/>
                </a:lnTo>
                <a:lnTo>
                  <a:pt x="3813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BFE4AE">
              <a:alpha val="5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42973" y="0"/>
            <a:ext cx="47625" cy="6858000"/>
          </a:xfrm>
          <a:custGeom>
            <a:avLst/>
            <a:gdLst/>
            <a:ahLst/>
            <a:cxnLst/>
            <a:rect l="l" t="t" r="r" b="b"/>
            <a:pathLst>
              <a:path w="47625" h="6858000">
                <a:moveTo>
                  <a:pt x="0" y="6858000"/>
                </a:moveTo>
                <a:lnTo>
                  <a:pt x="47626" y="6858000"/>
                </a:lnTo>
                <a:lnTo>
                  <a:pt x="4762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BFE4AE">
              <a:alpha val="5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75590" y="0"/>
            <a:ext cx="105410" cy="6858000"/>
          </a:xfrm>
          <a:custGeom>
            <a:avLst/>
            <a:gdLst/>
            <a:ahLst/>
            <a:cxnLst/>
            <a:rect l="l" t="t" r="r" b="b"/>
            <a:pathLst>
              <a:path w="105410" h="6858000">
                <a:moveTo>
                  <a:pt x="105410" y="0"/>
                </a:moveTo>
                <a:lnTo>
                  <a:pt x="0" y="0"/>
                </a:lnTo>
                <a:lnTo>
                  <a:pt x="0" y="6858000"/>
                </a:lnTo>
                <a:lnTo>
                  <a:pt x="105410" y="6858000"/>
                </a:lnTo>
                <a:close/>
              </a:path>
            </a:pathLst>
          </a:custGeom>
          <a:solidFill>
            <a:srgbClr val="D7EDCD">
              <a:alpha val="35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990600" y="0"/>
            <a:ext cx="228600" cy="6858000"/>
            <a:chOff x="990600" y="0"/>
            <a:chExt cx="228600" cy="6858000"/>
          </a:xfrm>
        </p:grpSpPr>
        <p:sp>
          <p:nvSpPr>
            <p:cNvPr id="7" name="object 7"/>
            <p:cNvSpPr/>
            <p:nvPr/>
          </p:nvSpPr>
          <p:spPr>
            <a:xfrm>
              <a:off x="990600" y="0"/>
              <a:ext cx="151130" cy="6858000"/>
            </a:xfrm>
            <a:custGeom>
              <a:avLst/>
              <a:gdLst/>
              <a:ahLst/>
              <a:cxnLst/>
              <a:rect l="l" t="t" r="r" b="b"/>
              <a:pathLst>
                <a:path w="151130" h="6858000">
                  <a:moveTo>
                    <a:pt x="0" y="6858000"/>
                  </a:moveTo>
                  <a:lnTo>
                    <a:pt x="151130" y="6858000"/>
                  </a:lnTo>
                  <a:lnTo>
                    <a:pt x="15113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D7EDCD">
                <a:alpha val="6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41729" y="0"/>
              <a:ext cx="77470" cy="6858000"/>
            </a:xfrm>
            <a:custGeom>
              <a:avLst/>
              <a:gdLst/>
              <a:ahLst/>
              <a:cxnLst/>
              <a:rect l="l" t="t" r="r" b="b"/>
              <a:pathLst>
                <a:path w="77469" h="6858000">
                  <a:moveTo>
                    <a:pt x="0" y="6858000"/>
                  </a:moveTo>
                  <a:lnTo>
                    <a:pt x="77469" y="6858000"/>
                  </a:lnTo>
                  <a:lnTo>
                    <a:pt x="77469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EBF6E7">
                <a:alpha val="7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1295400" y="0"/>
            <a:ext cx="76200" cy="6858000"/>
          </a:xfrm>
          <a:custGeom>
            <a:avLst/>
            <a:gdLst/>
            <a:ahLst/>
            <a:cxnLst/>
            <a:rect l="l" t="t" r="r" b="b"/>
            <a:pathLst>
              <a:path w="76200" h="6858000">
                <a:moveTo>
                  <a:pt x="0" y="6858000"/>
                </a:moveTo>
                <a:lnTo>
                  <a:pt x="76200" y="6858000"/>
                </a:lnTo>
                <a:lnTo>
                  <a:pt x="762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BF6E7">
              <a:alpha val="70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6679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57146">
            <a:solidFill>
              <a:srgbClr val="BFE4A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824866" y="0"/>
            <a:ext cx="118110" cy="6858000"/>
            <a:chOff x="824866" y="0"/>
            <a:chExt cx="118110" cy="6858000"/>
          </a:xfrm>
        </p:grpSpPr>
        <p:sp>
          <p:nvSpPr>
            <p:cNvPr id="12" name="object 12"/>
            <p:cNvSpPr/>
            <p:nvPr/>
          </p:nvSpPr>
          <p:spPr>
            <a:xfrm>
              <a:off x="885826" y="0"/>
              <a:ext cx="57150" cy="6858000"/>
            </a:xfrm>
            <a:custGeom>
              <a:avLst/>
              <a:gdLst/>
              <a:ahLst/>
              <a:cxnLst/>
              <a:rect l="l" t="t" r="r" b="b"/>
              <a:pathLst>
                <a:path w="57150" h="6858000">
                  <a:moveTo>
                    <a:pt x="0" y="6858000"/>
                  </a:moveTo>
                  <a:lnTo>
                    <a:pt x="57146" y="6858000"/>
                  </a:lnTo>
                  <a:lnTo>
                    <a:pt x="57146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EBF6E7">
                <a:alpha val="8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24866" y="0"/>
              <a:ext cx="57150" cy="6858000"/>
            </a:xfrm>
            <a:custGeom>
              <a:avLst/>
              <a:gdLst/>
              <a:ahLst/>
              <a:cxnLst/>
              <a:rect l="l" t="t" r="r" b="b"/>
              <a:pathLst>
                <a:path w="57150" h="6858000">
                  <a:moveTo>
                    <a:pt x="0" y="6858000"/>
                  </a:moveTo>
                  <a:lnTo>
                    <a:pt x="57146" y="6858000"/>
                  </a:lnTo>
                  <a:lnTo>
                    <a:pt x="57146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BFE4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17272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28393">
            <a:solidFill>
              <a:srgbClr val="BFE4A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668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9344">
            <a:solidFill>
              <a:srgbClr val="BFE4A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113519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57146">
            <a:solidFill>
              <a:srgbClr val="BFE4A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154305" y="-183784"/>
            <a:ext cx="1601469" cy="6858000"/>
            <a:chOff x="669291" y="0"/>
            <a:chExt cx="1601469" cy="6858000"/>
          </a:xfrm>
        </p:grpSpPr>
        <p:sp>
          <p:nvSpPr>
            <p:cNvPr id="18" name="object 18"/>
            <p:cNvSpPr/>
            <p:nvPr/>
          </p:nvSpPr>
          <p:spPr>
            <a:xfrm>
              <a:off x="1219200" y="0"/>
              <a:ext cx="76200" cy="6858000"/>
            </a:xfrm>
            <a:custGeom>
              <a:avLst/>
              <a:gdLst/>
              <a:ahLst/>
              <a:cxnLst/>
              <a:rect l="l" t="t" r="r" b="b"/>
              <a:pathLst>
                <a:path w="76200" h="6858000">
                  <a:moveTo>
                    <a:pt x="762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6200" y="6858000"/>
                  </a:lnTo>
                  <a:close/>
                </a:path>
              </a:pathLst>
            </a:custGeom>
            <a:solidFill>
              <a:srgbClr val="BFE4AE">
                <a:alpha val="5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9291" y="3431992"/>
              <a:ext cx="1341120" cy="2080260"/>
            </a:xfrm>
            <a:custGeom>
              <a:avLst/>
              <a:gdLst/>
              <a:ahLst/>
              <a:cxnLst/>
              <a:rect l="l" t="t" r="r" b="b"/>
              <a:pathLst>
                <a:path w="1341120" h="2080260">
                  <a:moveTo>
                    <a:pt x="1295400" y="647700"/>
                  </a:moveTo>
                  <a:lnTo>
                    <a:pt x="1293672" y="598208"/>
                  </a:lnTo>
                  <a:lnTo>
                    <a:pt x="1288580" y="549897"/>
                  </a:lnTo>
                  <a:lnTo>
                    <a:pt x="1280223" y="502869"/>
                  </a:lnTo>
                  <a:lnTo>
                    <a:pt x="1268730" y="457238"/>
                  </a:lnTo>
                  <a:lnTo>
                    <a:pt x="1254188" y="413118"/>
                  </a:lnTo>
                  <a:lnTo>
                    <a:pt x="1236700" y="370624"/>
                  </a:lnTo>
                  <a:lnTo>
                    <a:pt x="1216406" y="329844"/>
                  </a:lnTo>
                  <a:lnTo>
                    <a:pt x="1193393" y="290906"/>
                  </a:lnTo>
                  <a:lnTo>
                    <a:pt x="1167777" y="253923"/>
                  </a:lnTo>
                  <a:lnTo>
                    <a:pt x="1139672" y="218986"/>
                  </a:lnTo>
                  <a:lnTo>
                    <a:pt x="1109179" y="186220"/>
                  </a:lnTo>
                  <a:lnTo>
                    <a:pt x="1076413" y="155727"/>
                  </a:lnTo>
                  <a:lnTo>
                    <a:pt x="1041476" y="127622"/>
                  </a:lnTo>
                  <a:lnTo>
                    <a:pt x="1004493" y="102006"/>
                  </a:lnTo>
                  <a:lnTo>
                    <a:pt x="965555" y="78994"/>
                  </a:lnTo>
                  <a:lnTo>
                    <a:pt x="924775" y="58699"/>
                  </a:lnTo>
                  <a:lnTo>
                    <a:pt x="882281" y="41211"/>
                  </a:lnTo>
                  <a:lnTo>
                    <a:pt x="838161" y="26670"/>
                  </a:lnTo>
                  <a:lnTo>
                    <a:pt x="792530" y="15176"/>
                  </a:lnTo>
                  <a:lnTo>
                    <a:pt x="745502" y="6819"/>
                  </a:lnTo>
                  <a:lnTo>
                    <a:pt x="697191" y="1727"/>
                  </a:lnTo>
                  <a:lnTo>
                    <a:pt x="647700" y="0"/>
                  </a:lnTo>
                  <a:lnTo>
                    <a:pt x="598043" y="1727"/>
                  </a:lnTo>
                  <a:lnTo>
                    <a:pt x="549592" y="6819"/>
                  </a:lnTo>
                  <a:lnTo>
                    <a:pt x="502462" y="15176"/>
                  </a:lnTo>
                  <a:lnTo>
                    <a:pt x="456768" y="26670"/>
                  </a:lnTo>
                  <a:lnTo>
                    <a:pt x="412597" y="41211"/>
                  </a:lnTo>
                  <a:lnTo>
                    <a:pt x="370052" y="58699"/>
                  </a:lnTo>
                  <a:lnTo>
                    <a:pt x="329272" y="78994"/>
                  </a:lnTo>
                  <a:lnTo>
                    <a:pt x="290334" y="102006"/>
                  </a:lnTo>
                  <a:lnTo>
                    <a:pt x="253365" y="127622"/>
                  </a:lnTo>
                  <a:lnTo>
                    <a:pt x="218465" y="155727"/>
                  </a:lnTo>
                  <a:lnTo>
                    <a:pt x="185737" y="186220"/>
                  </a:lnTo>
                  <a:lnTo>
                    <a:pt x="155282" y="218986"/>
                  </a:lnTo>
                  <a:lnTo>
                    <a:pt x="127228" y="253923"/>
                  </a:lnTo>
                  <a:lnTo>
                    <a:pt x="101676" y="290906"/>
                  </a:lnTo>
                  <a:lnTo>
                    <a:pt x="78714" y="329844"/>
                  </a:lnTo>
                  <a:lnTo>
                    <a:pt x="58470" y="370624"/>
                  </a:lnTo>
                  <a:lnTo>
                    <a:pt x="41059" y="413118"/>
                  </a:lnTo>
                  <a:lnTo>
                    <a:pt x="26555" y="457238"/>
                  </a:lnTo>
                  <a:lnTo>
                    <a:pt x="15100" y="502869"/>
                  </a:lnTo>
                  <a:lnTo>
                    <a:pt x="6781" y="549897"/>
                  </a:lnTo>
                  <a:lnTo>
                    <a:pt x="1701" y="598208"/>
                  </a:lnTo>
                  <a:lnTo>
                    <a:pt x="0" y="647700"/>
                  </a:lnTo>
                  <a:lnTo>
                    <a:pt x="1701" y="697204"/>
                  </a:lnTo>
                  <a:lnTo>
                    <a:pt x="6781" y="745515"/>
                  </a:lnTo>
                  <a:lnTo>
                    <a:pt x="15100" y="792543"/>
                  </a:lnTo>
                  <a:lnTo>
                    <a:pt x="26555" y="838174"/>
                  </a:lnTo>
                  <a:lnTo>
                    <a:pt x="41059" y="882294"/>
                  </a:lnTo>
                  <a:lnTo>
                    <a:pt x="58470" y="924788"/>
                  </a:lnTo>
                  <a:lnTo>
                    <a:pt x="78714" y="965568"/>
                  </a:lnTo>
                  <a:lnTo>
                    <a:pt x="101676" y="1004506"/>
                  </a:lnTo>
                  <a:lnTo>
                    <a:pt x="127228" y="1041488"/>
                  </a:lnTo>
                  <a:lnTo>
                    <a:pt x="155282" y="1076426"/>
                  </a:lnTo>
                  <a:lnTo>
                    <a:pt x="185737" y="1109192"/>
                  </a:lnTo>
                  <a:lnTo>
                    <a:pt x="218465" y="1139685"/>
                  </a:lnTo>
                  <a:lnTo>
                    <a:pt x="253365" y="1167790"/>
                  </a:lnTo>
                  <a:lnTo>
                    <a:pt x="290334" y="1193406"/>
                  </a:lnTo>
                  <a:lnTo>
                    <a:pt x="329272" y="1216418"/>
                  </a:lnTo>
                  <a:lnTo>
                    <a:pt x="370052" y="1236713"/>
                  </a:lnTo>
                  <a:lnTo>
                    <a:pt x="412597" y="1254201"/>
                  </a:lnTo>
                  <a:lnTo>
                    <a:pt x="456768" y="1268742"/>
                  </a:lnTo>
                  <a:lnTo>
                    <a:pt x="502462" y="1280236"/>
                  </a:lnTo>
                  <a:lnTo>
                    <a:pt x="549592" y="1288592"/>
                  </a:lnTo>
                  <a:lnTo>
                    <a:pt x="598043" y="1293685"/>
                  </a:lnTo>
                  <a:lnTo>
                    <a:pt x="647700" y="1295400"/>
                  </a:lnTo>
                  <a:lnTo>
                    <a:pt x="697191" y="1293685"/>
                  </a:lnTo>
                  <a:lnTo>
                    <a:pt x="745502" y="1288592"/>
                  </a:lnTo>
                  <a:lnTo>
                    <a:pt x="792530" y="1280236"/>
                  </a:lnTo>
                  <a:lnTo>
                    <a:pt x="838161" y="1268742"/>
                  </a:lnTo>
                  <a:lnTo>
                    <a:pt x="882281" y="1254201"/>
                  </a:lnTo>
                  <a:lnTo>
                    <a:pt x="924775" y="1236713"/>
                  </a:lnTo>
                  <a:lnTo>
                    <a:pt x="965555" y="1216418"/>
                  </a:lnTo>
                  <a:lnTo>
                    <a:pt x="1004493" y="1193406"/>
                  </a:lnTo>
                  <a:lnTo>
                    <a:pt x="1041476" y="1167790"/>
                  </a:lnTo>
                  <a:lnTo>
                    <a:pt x="1076413" y="1139685"/>
                  </a:lnTo>
                  <a:lnTo>
                    <a:pt x="1109179" y="1109192"/>
                  </a:lnTo>
                  <a:lnTo>
                    <a:pt x="1139672" y="1076426"/>
                  </a:lnTo>
                  <a:lnTo>
                    <a:pt x="1167777" y="1041488"/>
                  </a:lnTo>
                  <a:lnTo>
                    <a:pt x="1193393" y="1004506"/>
                  </a:lnTo>
                  <a:lnTo>
                    <a:pt x="1216406" y="965568"/>
                  </a:lnTo>
                  <a:lnTo>
                    <a:pt x="1236700" y="924788"/>
                  </a:lnTo>
                  <a:lnTo>
                    <a:pt x="1254188" y="882294"/>
                  </a:lnTo>
                  <a:lnTo>
                    <a:pt x="1268730" y="838174"/>
                  </a:lnTo>
                  <a:lnTo>
                    <a:pt x="1280223" y="792543"/>
                  </a:lnTo>
                  <a:lnTo>
                    <a:pt x="1288580" y="745515"/>
                  </a:lnTo>
                  <a:lnTo>
                    <a:pt x="1293672" y="697204"/>
                  </a:lnTo>
                  <a:lnTo>
                    <a:pt x="1295400" y="647700"/>
                  </a:lnTo>
                  <a:close/>
                </a:path>
                <a:path w="1341120" h="2080260">
                  <a:moveTo>
                    <a:pt x="1341120" y="1758950"/>
                  </a:moveTo>
                  <a:lnTo>
                    <a:pt x="1337754" y="1710537"/>
                  </a:lnTo>
                  <a:lnTo>
                    <a:pt x="1327962" y="1664639"/>
                  </a:lnTo>
                  <a:lnTo>
                    <a:pt x="1312151" y="1621701"/>
                  </a:lnTo>
                  <a:lnTo>
                    <a:pt x="1290777" y="1582166"/>
                  </a:lnTo>
                  <a:lnTo>
                    <a:pt x="1264259" y="1546466"/>
                  </a:lnTo>
                  <a:lnTo>
                    <a:pt x="1233017" y="1515059"/>
                  </a:lnTo>
                  <a:lnTo>
                    <a:pt x="1197483" y="1488363"/>
                  </a:lnTo>
                  <a:lnTo>
                    <a:pt x="1158100" y="1466837"/>
                  </a:lnTo>
                  <a:lnTo>
                    <a:pt x="1115275" y="1450911"/>
                  </a:lnTo>
                  <a:lnTo>
                    <a:pt x="1069467" y="1441030"/>
                  </a:lnTo>
                  <a:lnTo>
                    <a:pt x="1021080" y="1437640"/>
                  </a:lnTo>
                  <a:lnTo>
                    <a:pt x="972654" y="1441030"/>
                  </a:lnTo>
                  <a:lnTo>
                    <a:pt x="926757" y="1450911"/>
                  </a:lnTo>
                  <a:lnTo>
                    <a:pt x="883818" y="1466837"/>
                  </a:lnTo>
                  <a:lnTo>
                    <a:pt x="844283" y="1488363"/>
                  </a:lnTo>
                  <a:lnTo>
                    <a:pt x="808583" y="1515059"/>
                  </a:lnTo>
                  <a:lnTo>
                    <a:pt x="777176" y="1546466"/>
                  </a:lnTo>
                  <a:lnTo>
                    <a:pt x="750481" y="1582166"/>
                  </a:lnTo>
                  <a:lnTo>
                    <a:pt x="728954" y="1621701"/>
                  </a:lnTo>
                  <a:lnTo>
                    <a:pt x="713028" y="1664639"/>
                  </a:lnTo>
                  <a:lnTo>
                    <a:pt x="703148" y="1710537"/>
                  </a:lnTo>
                  <a:lnTo>
                    <a:pt x="699770" y="1758950"/>
                  </a:lnTo>
                  <a:lnTo>
                    <a:pt x="703148" y="1807375"/>
                  </a:lnTo>
                  <a:lnTo>
                    <a:pt x="713028" y="1853272"/>
                  </a:lnTo>
                  <a:lnTo>
                    <a:pt x="728954" y="1896211"/>
                  </a:lnTo>
                  <a:lnTo>
                    <a:pt x="750481" y="1935746"/>
                  </a:lnTo>
                  <a:lnTo>
                    <a:pt x="777176" y="1971446"/>
                  </a:lnTo>
                  <a:lnTo>
                    <a:pt x="808583" y="2002853"/>
                  </a:lnTo>
                  <a:lnTo>
                    <a:pt x="844283" y="2029548"/>
                  </a:lnTo>
                  <a:lnTo>
                    <a:pt x="883818" y="2051075"/>
                  </a:lnTo>
                  <a:lnTo>
                    <a:pt x="926757" y="2067001"/>
                  </a:lnTo>
                  <a:lnTo>
                    <a:pt x="972654" y="2076881"/>
                  </a:lnTo>
                  <a:lnTo>
                    <a:pt x="1021080" y="2080260"/>
                  </a:lnTo>
                  <a:lnTo>
                    <a:pt x="1069467" y="2076881"/>
                  </a:lnTo>
                  <a:lnTo>
                    <a:pt x="1115275" y="2067001"/>
                  </a:lnTo>
                  <a:lnTo>
                    <a:pt x="1158100" y="2051075"/>
                  </a:lnTo>
                  <a:lnTo>
                    <a:pt x="1197483" y="2029548"/>
                  </a:lnTo>
                  <a:lnTo>
                    <a:pt x="1233017" y="2002853"/>
                  </a:lnTo>
                  <a:lnTo>
                    <a:pt x="1264259" y="1971446"/>
                  </a:lnTo>
                  <a:lnTo>
                    <a:pt x="1290777" y="1935746"/>
                  </a:lnTo>
                  <a:lnTo>
                    <a:pt x="1312151" y="1896211"/>
                  </a:lnTo>
                  <a:lnTo>
                    <a:pt x="1327962" y="1853272"/>
                  </a:lnTo>
                  <a:lnTo>
                    <a:pt x="1337754" y="1807375"/>
                  </a:lnTo>
                  <a:lnTo>
                    <a:pt x="1341120" y="1758950"/>
                  </a:lnTo>
                  <a:close/>
                </a:path>
              </a:pathLst>
            </a:custGeom>
            <a:solidFill>
              <a:srgbClr val="7ED0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090930" y="5500370"/>
              <a:ext cx="137159" cy="13589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663700" y="4495800"/>
              <a:ext cx="607060" cy="1567180"/>
            </a:xfrm>
            <a:custGeom>
              <a:avLst/>
              <a:gdLst/>
              <a:ahLst/>
              <a:cxnLst/>
              <a:rect l="l" t="t" r="r" b="b"/>
              <a:pathLst>
                <a:path w="607060" h="1567179">
                  <a:moveTo>
                    <a:pt x="274320" y="1428750"/>
                  </a:moveTo>
                  <a:lnTo>
                    <a:pt x="267487" y="1384744"/>
                  </a:lnTo>
                  <a:lnTo>
                    <a:pt x="248348" y="1347012"/>
                  </a:lnTo>
                  <a:lnTo>
                    <a:pt x="218897" y="1317561"/>
                  </a:lnTo>
                  <a:lnTo>
                    <a:pt x="181165" y="1298422"/>
                  </a:lnTo>
                  <a:lnTo>
                    <a:pt x="137160" y="1291590"/>
                  </a:lnTo>
                  <a:lnTo>
                    <a:pt x="92659" y="1298422"/>
                  </a:lnTo>
                  <a:lnTo>
                    <a:pt x="54864" y="1317561"/>
                  </a:lnTo>
                  <a:lnTo>
                    <a:pt x="25603" y="1347012"/>
                  </a:lnTo>
                  <a:lnTo>
                    <a:pt x="6705" y="1384744"/>
                  </a:lnTo>
                  <a:lnTo>
                    <a:pt x="0" y="1428750"/>
                  </a:lnTo>
                  <a:lnTo>
                    <a:pt x="6705" y="1472895"/>
                  </a:lnTo>
                  <a:lnTo>
                    <a:pt x="25603" y="1510944"/>
                  </a:lnTo>
                  <a:lnTo>
                    <a:pt x="54864" y="1540764"/>
                  </a:lnTo>
                  <a:lnTo>
                    <a:pt x="92659" y="1560220"/>
                  </a:lnTo>
                  <a:lnTo>
                    <a:pt x="137160" y="1567180"/>
                  </a:lnTo>
                  <a:lnTo>
                    <a:pt x="181165" y="1560220"/>
                  </a:lnTo>
                  <a:lnTo>
                    <a:pt x="218897" y="1540764"/>
                  </a:lnTo>
                  <a:lnTo>
                    <a:pt x="248348" y="1510944"/>
                  </a:lnTo>
                  <a:lnTo>
                    <a:pt x="267487" y="1472895"/>
                  </a:lnTo>
                  <a:lnTo>
                    <a:pt x="274320" y="1428750"/>
                  </a:lnTo>
                  <a:close/>
                </a:path>
                <a:path w="607060" h="1567179">
                  <a:moveTo>
                    <a:pt x="607060" y="181610"/>
                  </a:moveTo>
                  <a:lnTo>
                    <a:pt x="600646" y="132448"/>
                  </a:lnTo>
                  <a:lnTo>
                    <a:pt x="582498" y="88811"/>
                  </a:lnTo>
                  <a:lnTo>
                    <a:pt x="554189" y="52235"/>
                  </a:lnTo>
                  <a:lnTo>
                    <a:pt x="517309" y="24231"/>
                  </a:lnTo>
                  <a:lnTo>
                    <a:pt x="473443" y="6311"/>
                  </a:lnTo>
                  <a:lnTo>
                    <a:pt x="424180" y="0"/>
                  </a:lnTo>
                  <a:lnTo>
                    <a:pt x="374472" y="6311"/>
                  </a:lnTo>
                  <a:lnTo>
                    <a:pt x="330479" y="24231"/>
                  </a:lnTo>
                  <a:lnTo>
                    <a:pt x="293687" y="52235"/>
                  </a:lnTo>
                  <a:lnTo>
                    <a:pt x="265569" y="88811"/>
                  </a:lnTo>
                  <a:lnTo>
                    <a:pt x="247611" y="132448"/>
                  </a:lnTo>
                  <a:lnTo>
                    <a:pt x="241300" y="181610"/>
                  </a:lnTo>
                  <a:lnTo>
                    <a:pt x="247611" y="231317"/>
                  </a:lnTo>
                  <a:lnTo>
                    <a:pt x="265569" y="275310"/>
                  </a:lnTo>
                  <a:lnTo>
                    <a:pt x="293687" y="312102"/>
                  </a:lnTo>
                  <a:lnTo>
                    <a:pt x="330479" y="340220"/>
                  </a:lnTo>
                  <a:lnTo>
                    <a:pt x="374472" y="358178"/>
                  </a:lnTo>
                  <a:lnTo>
                    <a:pt x="424180" y="364490"/>
                  </a:lnTo>
                  <a:lnTo>
                    <a:pt x="473443" y="358178"/>
                  </a:lnTo>
                  <a:lnTo>
                    <a:pt x="517309" y="340220"/>
                  </a:lnTo>
                  <a:lnTo>
                    <a:pt x="554189" y="312102"/>
                  </a:lnTo>
                  <a:lnTo>
                    <a:pt x="582498" y="275310"/>
                  </a:lnTo>
                  <a:lnTo>
                    <a:pt x="600646" y="231317"/>
                  </a:lnTo>
                  <a:lnTo>
                    <a:pt x="607060" y="181610"/>
                  </a:lnTo>
                  <a:close/>
                </a:path>
              </a:pathLst>
            </a:custGeom>
            <a:solidFill>
              <a:srgbClr val="7ED0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565910" y="5068570"/>
            <a:ext cx="1276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Century Schoolbook"/>
                <a:cs typeface="Century Schoolbook"/>
              </a:rPr>
              <a:t>1</a:t>
            </a:r>
            <a:endParaRPr sz="1400">
              <a:latin typeface="Century Schoolbook"/>
              <a:cs typeface="Century Schoolbook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785918" y="2143116"/>
            <a:ext cx="65008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Cambria" pitchFamily="18" charset="0"/>
              </a:rPr>
              <a:t>ELECTRONIC DEVICES</a:t>
            </a:r>
            <a:endParaRPr lang="en-IN" sz="48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70569" y="5875020"/>
            <a:ext cx="127635" cy="45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dirty="0">
                <a:solidFill>
                  <a:srgbClr val="FFFFFF"/>
                </a:solidFill>
                <a:latin typeface="Century Schoolbook"/>
                <a:cs typeface="Century Schoolbook"/>
              </a:rPr>
              <a:t>2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400" dirty="0">
              <a:latin typeface="Century Schoolbook"/>
              <a:cs typeface="Century Schoolbook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5616" y="404664"/>
            <a:ext cx="602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</a:rPr>
              <a:t>UNIT I  - INTRODUCTION TO SEMICONDUCTOR PHYSICS</a:t>
            </a:r>
          </a:p>
        </p:txBody>
      </p:sp>
      <p:sp>
        <p:nvSpPr>
          <p:cNvPr id="10" name="object 3"/>
          <p:cNvSpPr txBox="1">
            <a:spLocks noGrp="1"/>
          </p:cNvSpPr>
          <p:nvPr>
            <p:ph type="title"/>
          </p:nvPr>
        </p:nvSpPr>
        <p:spPr>
          <a:xfrm>
            <a:off x="611560" y="921904"/>
            <a:ext cx="25063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0" u="none" spc="-5" dirty="0">
                <a:latin typeface="Century Schoolbook"/>
                <a:cs typeface="Century Schoolbook"/>
              </a:rPr>
              <a:t>Atomic</a:t>
            </a:r>
            <a:r>
              <a:rPr sz="2400" b="0" u="none" spc="-60" dirty="0">
                <a:latin typeface="Century Schoolbook"/>
                <a:cs typeface="Century Schoolbook"/>
              </a:rPr>
              <a:t> </a:t>
            </a:r>
            <a:r>
              <a:rPr sz="2400" b="0" u="none" spc="-5" dirty="0">
                <a:latin typeface="Century Schoolbook"/>
                <a:cs typeface="Century Schoolbook"/>
              </a:rPr>
              <a:t>Structure:</a:t>
            </a:r>
            <a:endParaRPr sz="2400" dirty="0">
              <a:latin typeface="Century Schoolbook"/>
              <a:cs typeface="Century Schoolbook"/>
            </a:endParaRPr>
          </a:p>
        </p:txBody>
      </p:sp>
      <p:sp>
        <p:nvSpPr>
          <p:cNvPr id="11" name="object 13"/>
          <p:cNvSpPr txBox="1"/>
          <p:nvPr/>
        </p:nvSpPr>
        <p:spPr>
          <a:xfrm>
            <a:off x="590249" y="1308894"/>
            <a:ext cx="8136904" cy="4280659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298450" indent="-285750">
              <a:lnSpc>
                <a:spcPct val="150000"/>
              </a:lnSpc>
              <a:spcBef>
                <a:spcPts val="130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cs typeface="Century Schoolbook"/>
              </a:rPr>
              <a:t>Atomic structure refers to the structure of atom comprising of a nucleus (center) in which the protons (positively charged) and neutrons (neutral) are present.</a:t>
            </a:r>
          </a:p>
          <a:p>
            <a:pPr marL="298450" indent="-285750">
              <a:lnSpc>
                <a:spcPct val="150000"/>
              </a:lnSpc>
              <a:spcBef>
                <a:spcPts val="130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cs typeface="Century Schoolbook"/>
              </a:rPr>
              <a:t>The negatively charged particles called electrons revolve around the center of the nucleus.</a:t>
            </a:r>
          </a:p>
          <a:p>
            <a:pPr marL="177800" marR="1552575">
              <a:lnSpc>
                <a:spcPct val="150000"/>
              </a:lnSpc>
              <a:spcBef>
                <a:spcPts val="275"/>
              </a:spcBef>
            </a:pPr>
            <a:r>
              <a:rPr lang="en-US" b="1" i="1" spc="-5" dirty="0">
                <a:latin typeface="Cambria" panose="02040503050406030204" pitchFamily="18" charset="0"/>
                <a:cs typeface="Century Schoolbook"/>
              </a:rPr>
              <a:t>Protons </a:t>
            </a:r>
            <a:r>
              <a:rPr lang="en-US" i="1" dirty="0">
                <a:latin typeface="Cambria" panose="02040503050406030204" pitchFamily="18" charset="0"/>
                <a:cs typeface="Century Schoolbook"/>
              </a:rPr>
              <a:t>(positively </a:t>
            </a:r>
            <a:r>
              <a:rPr lang="en-US" i="1" spc="-5" dirty="0">
                <a:latin typeface="Cambria" panose="02040503050406030204" pitchFamily="18" charset="0"/>
                <a:cs typeface="Century Schoolbook"/>
              </a:rPr>
              <a:t>charged), </a:t>
            </a:r>
            <a:r>
              <a:rPr lang="en-US" b="1" i="1" spc="-5" dirty="0">
                <a:latin typeface="Cambria" panose="02040503050406030204" pitchFamily="18" charset="0"/>
                <a:cs typeface="Century Schoolbook"/>
              </a:rPr>
              <a:t>neutrons</a:t>
            </a:r>
            <a:r>
              <a:rPr lang="en-US" i="1" spc="-5" dirty="0">
                <a:latin typeface="Cambria" panose="02040503050406030204" pitchFamily="18" charset="0"/>
                <a:cs typeface="Century Schoolbook"/>
              </a:rPr>
              <a:t>(neutral), Electrons (Negatively charged)  </a:t>
            </a:r>
          </a:p>
          <a:p>
            <a:pPr marL="177800" marR="1552575">
              <a:lnSpc>
                <a:spcPct val="150000"/>
              </a:lnSpc>
              <a:spcBef>
                <a:spcPts val="275"/>
              </a:spcBef>
            </a:pPr>
            <a:r>
              <a:rPr lang="en-US" b="1" i="1" spc="-5" dirty="0">
                <a:latin typeface="Cambria" panose="02040503050406030204" pitchFamily="18" charset="0"/>
                <a:cs typeface="Century Schoolbook"/>
              </a:rPr>
              <a:t>Atomic weight </a:t>
            </a:r>
            <a:r>
              <a:rPr lang="en-US" i="1" dirty="0">
                <a:latin typeface="Cambria" panose="02040503050406030204" pitchFamily="18" charset="0"/>
                <a:cs typeface="Century Schoolbook"/>
              </a:rPr>
              <a:t>= </a:t>
            </a:r>
            <a:r>
              <a:rPr lang="en-US" b="1" i="1" spc="-5" dirty="0">
                <a:latin typeface="Cambria" panose="02040503050406030204" pitchFamily="18" charset="0"/>
                <a:cs typeface="Century Schoolbook"/>
              </a:rPr>
              <a:t>no of protons </a:t>
            </a:r>
            <a:r>
              <a:rPr lang="en-US" b="1" i="1" dirty="0">
                <a:latin typeface="Cambria" panose="02040503050406030204" pitchFamily="18" charset="0"/>
                <a:cs typeface="Century Schoolbook"/>
              </a:rPr>
              <a:t>+ no </a:t>
            </a:r>
            <a:r>
              <a:rPr lang="en-US" b="1" i="1" spc="-5" dirty="0">
                <a:latin typeface="Cambria" panose="02040503050406030204" pitchFamily="18" charset="0"/>
                <a:cs typeface="Century Schoolbook"/>
              </a:rPr>
              <a:t>of</a:t>
            </a:r>
            <a:r>
              <a:rPr lang="en-US" b="1" i="1" spc="-10" dirty="0">
                <a:latin typeface="Cambria" panose="02040503050406030204" pitchFamily="18" charset="0"/>
                <a:cs typeface="Century Schoolbook"/>
              </a:rPr>
              <a:t> </a:t>
            </a:r>
            <a:r>
              <a:rPr lang="en-US" b="1" i="1" spc="-5" dirty="0">
                <a:latin typeface="Cambria" panose="02040503050406030204" pitchFamily="18" charset="0"/>
                <a:cs typeface="Century Schoolbook"/>
              </a:rPr>
              <a:t>neutrons.</a:t>
            </a:r>
            <a:endParaRPr lang="en-US" dirty="0">
              <a:latin typeface="Cambria" panose="02040503050406030204" pitchFamily="18" charset="0"/>
              <a:cs typeface="Century Schoolbook"/>
            </a:endParaRPr>
          </a:p>
          <a:p>
            <a:pPr marL="177800">
              <a:lnSpc>
                <a:spcPct val="150000"/>
              </a:lnSpc>
              <a:spcBef>
                <a:spcPts val="795"/>
              </a:spcBef>
            </a:pPr>
            <a:r>
              <a:rPr lang="en-US" b="1" i="1" spc="-5" dirty="0">
                <a:latin typeface="Cambria" panose="02040503050406030204" pitchFamily="18" charset="0"/>
                <a:cs typeface="Century Schoolbook"/>
              </a:rPr>
              <a:t>Atomic </a:t>
            </a:r>
            <a:r>
              <a:rPr lang="en-US" b="1" i="1" dirty="0">
                <a:latin typeface="Cambria" panose="02040503050406030204" pitchFamily="18" charset="0"/>
                <a:cs typeface="Century Schoolbook"/>
              </a:rPr>
              <a:t>number = </a:t>
            </a:r>
            <a:r>
              <a:rPr lang="en-US" b="1" i="1" spc="-5" dirty="0">
                <a:latin typeface="Cambria" panose="02040503050406030204" pitchFamily="18" charset="0"/>
                <a:cs typeface="Century Schoolbook"/>
              </a:rPr>
              <a:t>no of protons </a:t>
            </a:r>
            <a:r>
              <a:rPr lang="en-US" b="1" i="1" dirty="0">
                <a:latin typeface="Cambria" panose="02040503050406030204" pitchFamily="18" charset="0"/>
                <a:cs typeface="Century Schoolbook"/>
              </a:rPr>
              <a:t>/ </a:t>
            </a:r>
            <a:r>
              <a:rPr lang="en-US" b="1" i="1" spc="-5" dirty="0">
                <a:latin typeface="Cambria" panose="02040503050406030204" pitchFamily="18" charset="0"/>
                <a:cs typeface="Century Schoolbook"/>
              </a:rPr>
              <a:t>no of electrons in</a:t>
            </a:r>
            <a:r>
              <a:rPr lang="en-US" b="1" i="1" spc="-30" dirty="0">
                <a:latin typeface="Cambria" panose="02040503050406030204" pitchFamily="18" charset="0"/>
                <a:cs typeface="Century Schoolbook"/>
              </a:rPr>
              <a:t> </a:t>
            </a:r>
            <a:r>
              <a:rPr lang="en-US" b="1" i="1" spc="-5" dirty="0">
                <a:latin typeface="Cambria" panose="02040503050406030204" pitchFamily="18" charset="0"/>
                <a:cs typeface="Century Schoolbook"/>
              </a:rPr>
              <a:t>atom</a:t>
            </a:r>
            <a:endParaRPr lang="en-US" dirty="0">
              <a:latin typeface="Cambria" panose="02040503050406030204" pitchFamily="18" charset="0"/>
              <a:cs typeface="Century Schoolbook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endParaRPr sz="1800" dirty="0">
              <a:latin typeface="Century Schoolbook"/>
              <a:cs typeface="Century Schoolboo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70569" y="5875020"/>
            <a:ext cx="12763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dirty="0">
                <a:solidFill>
                  <a:srgbClr val="FFFFFF"/>
                </a:solidFill>
                <a:latin typeface="Century Schoolbook"/>
                <a:cs typeface="Century Schoolbook"/>
              </a:rPr>
              <a:t>3</a:t>
            </a:r>
            <a:endParaRPr sz="1400" dirty="0">
              <a:latin typeface="Century Schoolbook"/>
              <a:cs typeface="Century Schoolboo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3400" y="3002096"/>
            <a:ext cx="7306945" cy="380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sz="1800" b="1" i="1" dirty="0">
                <a:latin typeface="Cambria" panose="02040503050406030204" pitchFamily="18" charset="0"/>
                <a:cs typeface="Century Schoolbook"/>
              </a:rPr>
              <a:t>Energy </a:t>
            </a:r>
            <a:r>
              <a:rPr sz="1800" b="1" i="1" spc="-5" dirty="0">
                <a:latin typeface="Cambria" panose="02040503050406030204" pitchFamily="18" charset="0"/>
                <a:cs typeface="Century Schoolbook"/>
              </a:rPr>
              <a:t>of an</a:t>
            </a:r>
            <a:r>
              <a:rPr sz="1800" b="1" i="1" spc="-20" dirty="0">
                <a:latin typeface="Cambria" panose="02040503050406030204" pitchFamily="18" charset="0"/>
                <a:cs typeface="Century Schoolbook"/>
              </a:rPr>
              <a:t> </a:t>
            </a:r>
            <a:r>
              <a:rPr sz="1800" b="1" i="1" dirty="0">
                <a:latin typeface="Cambria" panose="02040503050406030204" pitchFamily="18" charset="0"/>
                <a:cs typeface="Century Schoolbook"/>
              </a:rPr>
              <a:t>electron</a:t>
            </a:r>
            <a:r>
              <a:rPr sz="1800" i="1" dirty="0">
                <a:latin typeface="Cambria" panose="02040503050406030204" pitchFamily="18" charset="0"/>
                <a:cs typeface="Century Schoolbook"/>
              </a:rPr>
              <a:t>:</a:t>
            </a:r>
            <a:endParaRPr sz="1800" dirty="0">
              <a:latin typeface="Cambria" panose="02040503050406030204" pitchFamily="18" charset="0"/>
              <a:cs typeface="Century Schoolbook"/>
            </a:endParaRPr>
          </a:p>
          <a:p>
            <a:pPr marL="927100" marR="1403985">
              <a:lnSpc>
                <a:spcPct val="150000"/>
              </a:lnSpc>
              <a:spcBef>
                <a:spcPts val="95"/>
              </a:spcBef>
            </a:pPr>
            <a:r>
              <a:rPr sz="1800" i="1" dirty="0">
                <a:latin typeface="Cambria" panose="02040503050406030204" pitchFamily="18" charset="0"/>
                <a:cs typeface="Century Schoolbook"/>
              </a:rPr>
              <a:t>2 </a:t>
            </a:r>
            <a:r>
              <a:rPr sz="1800" i="1" spc="145" dirty="0">
                <a:latin typeface="Cambria" panose="02040503050406030204" pitchFamily="18" charset="0"/>
                <a:cs typeface="Century Schoolbook"/>
              </a:rPr>
              <a:t>types</a:t>
            </a:r>
            <a:endParaRPr lang="en-US" sz="1800" i="1" spc="145" dirty="0">
              <a:latin typeface="Cambria" panose="02040503050406030204" pitchFamily="18" charset="0"/>
              <a:cs typeface="Century Schoolbook"/>
            </a:endParaRPr>
          </a:p>
          <a:p>
            <a:pPr marL="1212850" marR="1403985" indent="-285750">
              <a:lnSpc>
                <a:spcPct val="15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sz="1800" i="1" spc="-5" dirty="0">
                <a:latin typeface="Cambria" panose="02040503050406030204" pitchFamily="18" charset="0"/>
                <a:cs typeface="Century Schoolbook"/>
              </a:rPr>
              <a:t>kinetic energy </a:t>
            </a:r>
            <a:r>
              <a:rPr sz="1800" i="1" dirty="0">
                <a:latin typeface="Cambria" panose="02040503050406030204" pitchFamily="18" charset="0"/>
                <a:cs typeface="Century Schoolbook"/>
              </a:rPr>
              <a:t>due to its </a:t>
            </a:r>
            <a:r>
              <a:rPr sz="1800" i="1" spc="-5" dirty="0">
                <a:latin typeface="Cambria" panose="02040503050406030204" pitchFamily="18" charset="0"/>
                <a:cs typeface="Century Schoolbook"/>
              </a:rPr>
              <a:t>motion  </a:t>
            </a:r>
            <a:endParaRPr lang="en-US" sz="1800" i="1" spc="-5" dirty="0">
              <a:latin typeface="Cambria" panose="02040503050406030204" pitchFamily="18" charset="0"/>
              <a:cs typeface="Century Schoolbook"/>
            </a:endParaRPr>
          </a:p>
          <a:p>
            <a:pPr marL="1212850" marR="1403985" indent="-285750">
              <a:lnSpc>
                <a:spcPct val="15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sz="1800" i="1" spc="-5" dirty="0">
                <a:latin typeface="Cambria" panose="02040503050406030204" pitchFamily="18" charset="0"/>
                <a:cs typeface="Century Schoolbook"/>
              </a:rPr>
              <a:t>Potential </a:t>
            </a:r>
            <a:r>
              <a:rPr sz="1800" i="1" spc="125" dirty="0">
                <a:latin typeface="Cambria" panose="02040503050406030204" pitchFamily="18" charset="0"/>
                <a:cs typeface="Century Schoolbook"/>
              </a:rPr>
              <a:t>energy</a:t>
            </a:r>
            <a:r>
              <a:rPr lang="en-US" i="1" spc="125" dirty="0">
                <a:latin typeface="Cambria" panose="02040503050406030204" pitchFamily="18" charset="0"/>
                <a:cs typeface="Century Schoolbook"/>
              </a:rPr>
              <a:t> </a:t>
            </a:r>
            <a:r>
              <a:rPr sz="1800" i="1" dirty="0">
                <a:latin typeface="Cambria" panose="02040503050406030204" pitchFamily="18" charset="0"/>
                <a:cs typeface="Century Schoolbook"/>
              </a:rPr>
              <a:t>due to </a:t>
            </a:r>
            <a:r>
              <a:rPr sz="1800" i="1" spc="-5" dirty="0">
                <a:latin typeface="Cambria" panose="02040503050406030204" pitchFamily="18" charset="0"/>
                <a:cs typeface="Century Schoolbook"/>
              </a:rPr>
              <a:t>charge </a:t>
            </a:r>
            <a:r>
              <a:rPr sz="1800" i="1" dirty="0">
                <a:latin typeface="Cambria" panose="02040503050406030204" pitchFamily="18" charset="0"/>
                <a:cs typeface="Century Schoolbook"/>
              </a:rPr>
              <a:t>on the nucleus  </a:t>
            </a:r>
            <a:endParaRPr lang="en-US" sz="1800" i="1" dirty="0">
              <a:latin typeface="Cambria" panose="02040503050406030204" pitchFamily="18" charset="0"/>
              <a:cs typeface="Century Schoolbook"/>
            </a:endParaRPr>
          </a:p>
          <a:p>
            <a:pPr marL="927100" marR="1403985">
              <a:lnSpc>
                <a:spcPct val="150000"/>
              </a:lnSpc>
              <a:spcBef>
                <a:spcPts val="95"/>
              </a:spcBef>
            </a:pPr>
            <a:r>
              <a:rPr sz="1800" i="1" spc="-5" dirty="0">
                <a:latin typeface="Cambria" panose="02040503050406030204" pitchFamily="18" charset="0"/>
                <a:cs typeface="Century Schoolbook"/>
              </a:rPr>
              <a:t>Total energy </a:t>
            </a:r>
            <a:r>
              <a:rPr sz="1800" i="1" dirty="0">
                <a:latin typeface="Cambria" panose="02040503050406030204" pitchFamily="18" charset="0"/>
                <a:cs typeface="Century Schoolbook"/>
              </a:rPr>
              <a:t>=</a:t>
            </a:r>
            <a:r>
              <a:rPr sz="1800" i="1" spc="5" dirty="0">
                <a:latin typeface="Cambria" panose="02040503050406030204" pitchFamily="18" charset="0"/>
                <a:cs typeface="Century Schoolbook"/>
              </a:rPr>
              <a:t> </a:t>
            </a:r>
            <a:r>
              <a:rPr sz="1800" i="1" spc="-5" dirty="0">
                <a:latin typeface="Cambria" panose="02040503050406030204" pitchFamily="18" charset="0"/>
                <a:cs typeface="Century Schoolbook"/>
              </a:rPr>
              <a:t>K.E+P.E</a:t>
            </a:r>
            <a:endParaRPr sz="1800" dirty="0">
              <a:latin typeface="Cambria" panose="02040503050406030204" pitchFamily="18" charset="0"/>
              <a:cs typeface="Century Schoolbook"/>
            </a:endParaRPr>
          </a:p>
          <a:p>
            <a:pPr marL="12700" marR="604520" indent="63500">
              <a:lnSpc>
                <a:spcPct val="150000"/>
              </a:lnSpc>
            </a:pPr>
            <a:r>
              <a:rPr sz="1800" i="1" spc="-5" dirty="0">
                <a:latin typeface="Cambria" panose="02040503050406030204" pitchFamily="18" charset="0"/>
                <a:cs typeface="Century Schoolbook"/>
              </a:rPr>
              <a:t>Energy </a:t>
            </a:r>
            <a:r>
              <a:rPr sz="1800" i="1" dirty="0">
                <a:latin typeface="Cambria" panose="02040503050406030204" pitchFamily="18" charset="0"/>
                <a:cs typeface="Century Schoolbook"/>
              </a:rPr>
              <a:t>of electron increases </a:t>
            </a:r>
            <a:r>
              <a:rPr sz="1800" i="1" spc="-5" dirty="0">
                <a:latin typeface="Cambria" panose="02040503050406030204" pitchFamily="18" charset="0"/>
                <a:cs typeface="Century Schoolbook"/>
              </a:rPr>
              <a:t>as its </a:t>
            </a:r>
            <a:r>
              <a:rPr sz="1800" b="1" i="1" spc="-5" dirty="0">
                <a:latin typeface="Cambria" panose="02040503050406030204" pitchFamily="18" charset="0"/>
                <a:cs typeface="Century Schoolbook"/>
              </a:rPr>
              <a:t>distance from </a:t>
            </a:r>
            <a:r>
              <a:rPr sz="1800" b="1" i="1" dirty="0">
                <a:latin typeface="Cambria" panose="02040503050406030204" pitchFamily="18" charset="0"/>
                <a:cs typeface="Century Schoolbook"/>
              </a:rPr>
              <a:t>the </a:t>
            </a:r>
            <a:r>
              <a:rPr sz="1800" b="1" i="1" spc="-5" dirty="0">
                <a:latin typeface="Cambria" panose="02040503050406030204" pitchFamily="18" charset="0"/>
                <a:cs typeface="Century Schoolbook"/>
              </a:rPr>
              <a:t>nucleus  increases</a:t>
            </a:r>
            <a:r>
              <a:rPr sz="1800" i="1" spc="-5" dirty="0">
                <a:latin typeface="Cambria" panose="02040503050406030204" pitchFamily="18" charset="0"/>
                <a:cs typeface="Century Schoolbook"/>
              </a:rPr>
              <a:t>.</a:t>
            </a:r>
            <a:endParaRPr sz="1800" dirty="0">
              <a:latin typeface="Cambria" panose="02040503050406030204" pitchFamily="18" charset="0"/>
              <a:cs typeface="Century Schoolbook"/>
            </a:endParaRPr>
          </a:p>
          <a:p>
            <a:pPr marL="12700" marR="5080">
              <a:lnSpc>
                <a:spcPct val="150000"/>
              </a:lnSpc>
            </a:pPr>
            <a:r>
              <a:rPr sz="1800" b="1" i="1" spc="-5" dirty="0">
                <a:latin typeface="Cambria" panose="02040503050406030204" pitchFamily="18" charset="0"/>
                <a:cs typeface="Century Schoolbook"/>
              </a:rPr>
              <a:t>Last orbits </a:t>
            </a:r>
            <a:r>
              <a:rPr sz="1800" i="1" dirty="0">
                <a:latin typeface="Cambria" panose="02040503050406030204" pitchFamily="18" charset="0"/>
                <a:cs typeface="Century Schoolbook"/>
              </a:rPr>
              <a:t>electron possess </a:t>
            </a:r>
            <a:r>
              <a:rPr sz="1800" i="1" spc="-5" dirty="0">
                <a:latin typeface="Cambria" panose="02040503050406030204" pitchFamily="18" charset="0"/>
                <a:cs typeface="Century Schoolbook"/>
              </a:rPr>
              <a:t>very high </a:t>
            </a:r>
            <a:r>
              <a:rPr sz="1800" i="1" dirty="0">
                <a:latin typeface="Cambria" panose="02040503050406030204" pitchFamily="18" charset="0"/>
                <a:cs typeface="Century Schoolbook"/>
              </a:rPr>
              <a:t>energy as </a:t>
            </a:r>
            <a:r>
              <a:rPr sz="1800" i="1" spc="-5" dirty="0">
                <a:latin typeface="Cambria" panose="02040503050406030204" pitchFamily="18" charset="0"/>
                <a:cs typeface="Century Schoolbook"/>
              </a:rPr>
              <a:t>compared </a:t>
            </a:r>
            <a:r>
              <a:rPr sz="1800" i="1" dirty="0">
                <a:latin typeface="Cambria" panose="02040503050406030204" pitchFamily="18" charset="0"/>
                <a:cs typeface="Century Schoolbook"/>
              </a:rPr>
              <a:t>to electron  in the inner </a:t>
            </a:r>
            <a:r>
              <a:rPr sz="1800" i="1" spc="-5" dirty="0">
                <a:latin typeface="Cambria" panose="02040503050406030204" pitchFamily="18" charset="0"/>
                <a:cs typeface="Century Schoolbook"/>
              </a:rPr>
              <a:t>orbits.</a:t>
            </a:r>
            <a:endParaRPr sz="1800" dirty="0">
              <a:latin typeface="Cambria" panose="02040503050406030204" pitchFamily="18" charset="0"/>
              <a:cs typeface="Century Schoolboo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6009" y="469284"/>
            <a:ext cx="1484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u="sng" spc="-5" dirty="0">
                <a:uFill>
                  <a:solidFill>
                    <a:srgbClr val="000000"/>
                  </a:solidFill>
                </a:uFill>
                <a:latin typeface="Century Schoolbook"/>
                <a:cs typeface="Century Schoolbook"/>
              </a:rPr>
              <a:t>Electron:</a:t>
            </a:r>
            <a:endParaRPr sz="1800" dirty="0">
              <a:latin typeface="Century Schoolbook"/>
              <a:cs typeface="Century Schoolbook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91209" y="801098"/>
            <a:ext cx="5143500" cy="805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10"/>
              </a:spcBef>
            </a:pPr>
            <a:r>
              <a:rPr b="0" u="none" spc="-5" dirty="0">
                <a:latin typeface="Cambria" panose="02040503050406030204" pitchFamily="18" charset="0"/>
              </a:rPr>
              <a:t>tiny </a:t>
            </a:r>
            <a:r>
              <a:rPr b="0" u="none" spc="90" dirty="0">
                <a:latin typeface="Cambria" panose="02040503050406030204" pitchFamily="18" charset="0"/>
              </a:rPr>
              <a:t>particles</a:t>
            </a:r>
            <a:r>
              <a:rPr lang="en-US" sz="1850" b="0" i="0" u="none" spc="90" dirty="0">
                <a:latin typeface="Cambria" panose="02040503050406030204" pitchFamily="18" charset="0"/>
              </a:rPr>
              <a:t> -</a:t>
            </a:r>
            <a:r>
              <a:rPr sz="1850" b="0" i="0" u="none" spc="30" dirty="0">
                <a:latin typeface="Cambria" panose="02040503050406030204" pitchFamily="18" charset="0"/>
                <a:cs typeface="Times New Roman"/>
              </a:rPr>
              <a:t> </a:t>
            </a:r>
            <a:r>
              <a:rPr b="0" u="none" dirty="0">
                <a:latin typeface="Cambria" panose="02040503050406030204" pitchFamily="18" charset="0"/>
              </a:rPr>
              <a:t>electrons</a:t>
            </a:r>
            <a:endParaRPr sz="1850" dirty="0">
              <a:latin typeface="Cambria" panose="02040503050406030204" pitchFamily="18" charset="0"/>
            </a:endParaRPr>
          </a:p>
          <a:p>
            <a:pPr marL="12700">
              <a:lnSpc>
                <a:spcPct val="150000"/>
              </a:lnSpc>
            </a:pPr>
            <a:r>
              <a:rPr b="0" u="none" spc="-5" dirty="0">
                <a:latin typeface="Cambria" panose="02040503050406030204" pitchFamily="18" charset="0"/>
              </a:rPr>
              <a:t>Negatively charged </a:t>
            </a:r>
            <a:r>
              <a:rPr b="0" u="none" dirty="0">
                <a:latin typeface="Cambria" panose="02040503050406030204" pitchFamily="18" charset="0"/>
              </a:rPr>
              <a:t>particle </a:t>
            </a:r>
            <a:r>
              <a:rPr b="0" u="none" spc="-5" dirty="0">
                <a:latin typeface="Cambria" panose="02040503050406030204" pitchFamily="18" charset="0"/>
              </a:rPr>
              <a:t>have negligible</a:t>
            </a:r>
            <a:r>
              <a:rPr b="0" u="none" spc="25" dirty="0">
                <a:latin typeface="Cambria" panose="02040503050406030204" pitchFamily="18" charset="0"/>
              </a:rPr>
              <a:t> </a:t>
            </a:r>
            <a:r>
              <a:rPr b="0" u="none" spc="-5" dirty="0">
                <a:latin typeface="Cambria" panose="02040503050406030204" pitchFamily="18" charset="0"/>
              </a:rPr>
              <a:t>mass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33400" y="1638477"/>
            <a:ext cx="6974205" cy="15414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sz="1800" b="1" i="1" spc="-5" dirty="0">
                <a:latin typeface="Cambria" panose="02040503050406030204" pitchFamily="18" charset="0"/>
                <a:cs typeface="Century Schoolbook"/>
              </a:rPr>
              <a:t>Important</a:t>
            </a:r>
            <a:r>
              <a:rPr sz="1800" b="1" i="1" spc="-10" dirty="0">
                <a:latin typeface="Cambria" panose="02040503050406030204" pitchFamily="18" charset="0"/>
                <a:cs typeface="Century Schoolbook"/>
              </a:rPr>
              <a:t> </a:t>
            </a:r>
            <a:r>
              <a:rPr sz="1800" b="1" i="1" spc="-5" dirty="0">
                <a:latin typeface="Cambria" panose="02040503050406030204" pitchFamily="18" charset="0"/>
                <a:cs typeface="Century Schoolbook"/>
              </a:rPr>
              <a:t>properties:</a:t>
            </a:r>
            <a:endParaRPr sz="1800" dirty="0">
              <a:latin typeface="Cambria" panose="02040503050406030204" pitchFamily="18" charset="0"/>
              <a:cs typeface="Century Schoolbook"/>
            </a:endParaRPr>
          </a:p>
          <a:p>
            <a:pPr marL="927100" marR="1134745">
              <a:lnSpc>
                <a:spcPct val="150000"/>
              </a:lnSpc>
            </a:pPr>
            <a:r>
              <a:rPr sz="1800" i="1" spc="-5" dirty="0">
                <a:latin typeface="Cambria" panose="02040503050406030204" pitchFamily="18" charset="0"/>
                <a:cs typeface="Century Schoolbook"/>
              </a:rPr>
              <a:t>Charge </a:t>
            </a:r>
            <a:r>
              <a:rPr sz="1800" i="1" dirty="0">
                <a:latin typeface="Cambria" panose="02040503050406030204" pitchFamily="18" charset="0"/>
                <a:cs typeface="Century Schoolbook"/>
              </a:rPr>
              <a:t>of </a:t>
            </a:r>
            <a:r>
              <a:rPr sz="1800" i="1" spc="-5" dirty="0">
                <a:latin typeface="Cambria" panose="02040503050406030204" pitchFamily="18" charset="0"/>
                <a:cs typeface="Century Schoolbook"/>
              </a:rPr>
              <a:t>electrons, </a:t>
            </a:r>
            <a:r>
              <a:rPr sz="1800" i="1" dirty="0">
                <a:latin typeface="Cambria" panose="02040503050406030204" pitchFamily="18" charset="0"/>
                <a:cs typeface="Century Schoolbook"/>
              </a:rPr>
              <a:t>e = </a:t>
            </a:r>
            <a:r>
              <a:rPr sz="1800" i="1" spc="-10" dirty="0">
                <a:latin typeface="Cambria" panose="02040503050406030204" pitchFamily="18" charset="0"/>
                <a:cs typeface="Century Schoolbook"/>
              </a:rPr>
              <a:t>1.602 </a:t>
            </a:r>
            <a:r>
              <a:rPr sz="1800" i="1" spc="-5" dirty="0">
                <a:latin typeface="Cambria" panose="02040503050406030204" pitchFamily="18" charset="0"/>
                <a:cs typeface="Century Schoolbook"/>
              </a:rPr>
              <a:t>*10^-19 </a:t>
            </a:r>
            <a:r>
              <a:rPr sz="1800" i="1" dirty="0">
                <a:latin typeface="Cambria" panose="02040503050406030204" pitchFamily="18" charset="0"/>
                <a:cs typeface="Century Schoolbook"/>
              </a:rPr>
              <a:t>coulomb  </a:t>
            </a:r>
            <a:r>
              <a:rPr sz="1800" i="1" spc="-5" dirty="0">
                <a:latin typeface="Cambria" panose="02040503050406030204" pitchFamily="18" charset="0"/>
                <a:cs typeface="Century Schoolbook"/>
              </a:rPr>
              <a:t>Mass </a:t>
            </a:r>
            <a:r>
              <a:rPr sz="1800" i="1" dirty="0">
                <a:latin typeface="Cambria" panose="02040503050406030204" pitchFamily="18" charset="0"/>
                <a:cs typeface="Century Schoolbook"/>
              </a:rPr>
              <a:t>of electrons, m = </a:t>
            </a:r>
            <a:r>
              <a:rPr sz="1800" i="1" spc="-10" dirty="0">
                <a:latin typeface="Cambria" panose="02040503050406030204" pitchFamily="18" charset="0"/>
                <a:cs typeface="Century Schoolbook"/>
              </a:rPr>
              <a:t>9.0*10^</a:t>
            </a:r>
            <a:r>
              <a:rPr sz="1800" i="1" spc="-15" dirty="0">
                <a:latin typeface="Cambria" panose="02040503050406030204" pitchFamily="18" charset="0"/>
                <a:cs typeface="Century Schoolbook"/>
              </a:rPr>
              <a:t> </a:t>
            </a:r>
            <a:r>
              <a:rPr sz="1800" i="1" spc="-5" dirty="0">
                <a:latin typeface="Cambria" panose="02040503050406030204" pitchFamily="18" charset="0"/>
                <a:cs typeface="Century Schoolbook"/>
              </a:rPr>
              <a:t>-31kg</a:t>
            </a:r>
            <a:endParaRPr sz="1800" dirty="0">
              <a:latin typeface="Cambria" panose="02040503050406030204" pitchFamily="18" charset="0"/>
              <a:cs typeface="Century Schoolbook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750" dirty="0">
              <a:latin typeface="Cambria" panose="02040503050406030204" pitchFamily="18" charset="0"/>
              <a:cs typeface="Century Schoolbook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643369" y="0"/>
            <a:ext cx="2084070" cy="29565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xmlns="" val="722573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70569" y="5875020"/>
            <a:ext cx="12763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dirty="0">
                <a:solidFill>
                  <a:srgbClr val="FFFFFF"/>
                </a:solidFill>
                <a:latin typeface="Century Schoolbook"/>
                <a:cs typeface="Century Schoolbook"/>
              </a:rPr>
              <a:t>4</a:t>
            </a:r>
            <a:endParaRPr sz="1400" dirty="0">
              <a:latin typeface="Century Schoolbook"/>
              <a:cs typeface="Century Schoolbook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5536" y="188640"/>
            <a:ext cx="79750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</a:rPr>
              <a:t>Energy band description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536" y="653075"/>
            <a:ext cx="7975033" cy="2875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</a:rPr>
              <a:t>Bands are classified into 2 types</a:t>
            </a:r>
          </a:p>
          <a:p>
            <a:endParaRPr lang="en-US" dirty="0">
              <a:latin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</a:rPr>
              <a:t>1.Valance Band </a:t>
            </a:r>
          </a:p>
          <a:p>
            <a:pPr marL="90805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Cambria" panose="02040503050406030204" pitchFamily="18" charset="0"/>
              </a:rPr>
              <a:t>energy possessed </a:t>
            </a:r>
            <a:r>
              <a:rPr lang="en-US" spc="-5" dirty="0">
                <a:latin typeface="Cambria" panose="02040503050406030204" pitchFamily="18" charset="0"/>
              </a:rPr>
              <a:t>by </a:t>
            </a:r>
            <a:r>
              <a:rPr lang="en-US" b="1" spc="-5" dirty="0">
                <a:latin typeface="Cambria" panose="02040503050406030204" pitchFamily="18" charset="0"/>
                <a:cs typeface="Century Schoolbook"/>
              </a:rPr>
              <a:t>valence</a:t>
            </a:r>
            <a:r>
              <a:rPr lang="en-US" b="1" spc="15" dirty="0">
                <a:latin typeface="Cambria" panose="02040503050406030204" pitchFamily="18" charset="0"/>
                <a:cs typeface="Century Schoolbook"/>
              </a:rPr>
              <a:t> </a:t>
            </a:r>
            <a:r>
              <a:rPr lang="en-US" b="1" spc="-5" dirty="0">
                <a:latin typeface="Cambria" panose="02040503050406030204" pitchFamily="18" charset="0"/>
                <a:cs typeface="Century Schoolbook"/>
              </a:rPr>
              <a:t>electron</a:t>
            </a:r>
            <a:r>
              <a:rPr lang="en-US" spc="-5" dirty="0">
                <a:latin typeface="Cambria" panose="02040503050406030204" pitchFamily="18" charset="0"/>
              </a:rPr>
              <a:t>.</a:t>
            </a:r>
          </a:p>
          <a:p>
            <a:pPr marL="202565" indent="-190500">
              <a:lnSpc>
                <a:spcPct val="100000"/>
              </a:lnSpc>
              <a:buSzPct val="94444"/>
              <a:buAutoNum type="arabicPeriod" startAt="2"/>
              <a:tabLst>
                <a:tab pos="203200" algn="l"/>
              </a:tabLst>
            </a:pPr>
            <a:r>
              <a:rPr lang="en-US" spc="-5" dirty="0">
                <a:latin typeface="Cambria" panose="02040503050406030204" pitchFamily="18" charset="0"/>
              </a:rPr>
              <a:t>Conduction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spc="-5" dirty="0">
                <a:latin typeface="Cambria" panose="02040503050406030204" pitchFamily="18" charset="0"/>
              </a:rPr>
              <a:t>band:</a:t>
            </a:r>
          </a:p>
          <a:p>
            <a:pPr marL="990600">
              <a:lnSpc>
                <a:spcPct val="100000"/>
              </a:lnSpc>
            </a:pPr>
            <a:r>
              <a:rPr lang="en-US" dirty="0">
                <a:latin typeface="Cambria" panose="02040503050406030204" pitchFamily="18" charset="0"/>
              </a:rPr>
              <a:t>energy possessed </a:t>
            </a:r>
            <a:r>
              <a:rPr lang="en-US" spc="-5" dirty="0">
                <a:latin typeface="Cambria" panose="02040503050406030204" pitchFamily="18" charset="0"/>
              </a:rPr>
              <a:t>by </a:t>
            </a:r>
            <a:r>
              <a:rPr lang="en-US" b="1" spc="-5" dirty="0">
                <a:latin typeface="Cambria" panose="02040503050406030204" pitchFamily="18" charset="0"/>
                <a:cs typeface="Century Schoolbook"/>
              </a:rPr>
              <a:t>free</a:t>
            </a:r>
            <a:r>
              <a:rPr lang="en-US" b="1" spc="15" dirty="0">
                <a:latin typeface="Cambria" panose="02040503050406030204" pitchFamily="18" charset="0"/>
                <a:cs typeface="Century Schoolbook"/>
              </a:rPr>
              <a:t> </a:t>
            </a:r>
            <a:r>
              <a:rPr lang="en-US" b="1" spc="-5" dirty="0">
                <a:latin typeface="Cambria" panose="02040503050406030204" pitchFamily="18" charset="0"/>
                <a:cs typeface="Century Schoolbook"/>
              </a:rPr>
              <a:t>electron.</a:t>
            </a:r>
          </a:p>
          <a:p>
            <a:pPr marL="202565" indent="-190500">
              <a:lnSpc>
                <a:spcPct val="100000"/>
              </a:lnSpc>
              <a:buSzPct val="94444"/>
              <a:buAutoNum type="arabicPeriod" startAt="3"/>
              <a:tabLst>
                <a:tab pos="203200" algn="l"/>
              </a:tabLst>
            </a:pPr>
            <a:r>
              <a:rPr lang="en-US" spc="-5" dirty="0">
                <a:latin typeface="Cambria" panose="02040503050406030204" pitchFamily="18" charset="0"/>
              </a:rPr>
              <a:t>Forbidden energy</a:t>
            </a:r>
            <a:r>
              <a:rPr lang="en-US" dirty="0">
                <a:latin typeface="Cambria" panose="02040503050406030204" pitchFamily="18" charset="0"/>
              </a:rPr>
              <a:t> gap:</a:t>
            </a:r>
          </a:p>
          <a:p>
            <a:pPr marL="12700" marR="5080" indent="914400">
              <a:lnSpc>
                <a:spcPct val="100000"/>
              </a:lnSpc>
            </a:pPr>
            <a:r>
              <a:rPr lang="en-US" b="1" spc="-5" dirty="0">
                <a:latin typeface="Cambria" panose="02040503050406030204" pitchFamily="18" charset="0"/>
              </a:rPr>
              <a:t>Separation </a:t>
            </a:r>
            <a:r>
              <a:rPr lang="en-US" b="1" spc="-5" dirty="0">
                <a:latin typeface="Cambria" panose="02040503050406030204" pitchFamily="18" charset="0"/>
                <a:cs typeface="Century Schoolbook"/>
              </a:rPr>
              <a:t>between </a:t>
            </a:r>
            <a:r>
              <a:rPr lang="en-US" spc="-5" dirty="0">
                <a:latin typeface="Cambria" panose="02040503050406030204" pitchFamily="18" charset="0"/>
              </a:rPr>
              <a:t>conduction band </a:t>
            </a:r>
            <a:r>
              <a:rPr lang="en-US" dirty="0">
                <a:latin typeface="Cambria" panose="02040503050406030204" pitchFamily="18" charset="0"/>
              </a:rPr>
              <a:t>and  </a:t>
            </a:r>
            <a:r>
              <a:rPr lang="en-US" i="1" spc="-5" dirty="0">
                <a:latin typeface="Cambria" panose="02040503050406030204" pitchFamily="18" charset="0"/>
              </a:rPr>
              <a:t>valance band </a:t>
            </a:r>
            <a:r>
              <a:rPr lang="en-US" i="1" spc="-10" dirty="0">
                <a:latin typeface="Cambria" panose="02040503050406030204" pitchFamily="18" charset="0"/>
              </a:rPr>
              <a:t>on </a:t>
            </a:r>
            <a:r>
              <a:rPr lang="en-US" i="1" dirty="0">
                <a:latin typeface="Cambria" panose="02040503050406030204" pitchFamily="18" charset="0"/>
              </a:rPr>
              <a:t>the energy level</a:t>
            </a:r>
            <a:r>
              <a:rPr lang="en-US" i="1" spc="5" dirty="0">
                <a:latin typeface="Cambria" panose="02040503050406030204" pitchFamily="18" charset="0"/>
              </a:rPr>
              <a:t> </a:t>
            </a:r>
            <a:r>
              <a:rPr lang="en-US" i="1" spc="-5" dirty="0">
                <a:latin typeface="Cambria" panose="02040503050406030204" pitchFamily="18" charset="0"/>
              </a:rPr>
              <a:t>diagram.</a:t>
            </a:r>
          </a:p>
          <a:p>
            <a:endParaRPr lang="en-US" dirty="0"/>
          </a:p>
        </p:txBody>
      </p:sp>
      <p:sp>
        <p:nvSpPr>
          <p:cNvPr id="12" name="object 4"/>
          <p:cNvSpPr/>
          <p:nvPr/>
        </p:nvSpPr>
        <p:spPr>
          <a:xfrm>
            <a:off x="2420266" y="3311235"/>
            <a:ext cx="3925571" cy="26856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xmlns="" val="1057988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70569" y="5877272"/>
            <a:ext cx="12763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dirty="0">
                <a:solidFill>
                  <a:srgbClr val="FFFFFF"/>
                </a:solidFill>
                <a:latin typeface="Century Schoolbook"/>
                <a:cs typeface="Century Schoolbook"/>
              </a:rPr>
              <a:t>5</a:t>
            </a:r>
            <a:endParaRPr sz="1400" dirty="0">
              <a:latin typeface="Century Schoolbook"/>
              <a:cs typeface="Century Schoolbook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5536" y="188640"/>
            <a:ext cx="79750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</a:rPr>
              <a:t>Classification of Solids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553" y="764704"/>
            <a:ext cx="7747224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7815" lvl="1" indent="-285750">
              <a:lnSpc>
                <a:spcPct val="150000"/>
              </a:lnSpc>
              <a:buSzPct val="94444"/>
              <a:buFont typeface="Wingdings" panose="05000000000000000000" pitchFamily="2" charset="2"/>
              <a:buChar char="Ø"/>
              <a:tabLst>
                <a:tab pos="394335" algn="l"/>
              </a:tabLst>
            </a:pPr>
            <a:r>
              <a:rPr lang="en-US" spc="-5" dirty="0">
                <a:latin typeface="Cambria" panose="02040503050406030204" pitchFamily="18" charset="0"/>
                <a:cs typeface="Century Schoolbook"/>
              </a:rPr>
              <a:t>Classification based</a:t>
            </a:r>
            <a:r>
              <a:rPr lang="en-US" spc="5" dirty="0">
                <a:latin typeface="Cambria" panose="02040503050406030204" pitchFamily="18" charset="0"/>
                <a:cs typeface="Century Schoolbook"/>
              </a:rPr>
              <a:t> </a:t>
            </a:r>
            <a:r>
              <a:rPr lang="en-US" dirty="0">
                <a:latin typeface="Cambria" panose="02040503050406030204" pitchFamily="18" charset="0"/>
                <a:cs typeface="Century Schoolbook"/>
              </a:rPr>
              <a:t>on:</a:t>
            </a:r>
          </a:p>
          <a:p>
            <a:pPr marL="927100" marR="3823335" lvl="2">
              <a:lnSpc>
                <a:spcPct val="150000"/>
              </a:lnSpc>
              <a:buSzPct val="94444"/>
              <a:buAutoNum type="arabicPeriod"/>
              <a:tabLst>
                <a:tab pos="1117600" algn="l"/>
              </a:tabLst>
            </a:pPr>
            <a:r>
              <a:rPr lang="en-US" spc="-5" dirty="0">
                <a:latin typeface="Cambria" panose="02040503050406030204" pitchFamily="18" charset="0"/>
                <a:cs typeface="Century Schoolbook"/>
              </a:rPr>
              <a:t>valance electrons  </a:t>
            </a:r>
          </a:p>
          <a:p>
            <a:pPr marL="927100" marR="3823335" lvl="2">
              <a:lnSpc>
                <a:spcPct val="150000"/>
              </a:lnSpc>
              <a:buSzPct val="94444"/>
              <a:tabLst>
                <a:tab pos="1117600" algn="l"/>
              </a:tabLst>
            </a:pPr>
            <a:r>
              <a:rPr lang="en-US" spc="-5" dirty="0">
                <a:latin typeface="Cambria" panose="02040503050406030204" pitchFamily="18" charset="0"/>
                <a:cs typeface="Century Schoolbook"/>
              </a:rPr>
              <a:t>2.Free </a:t>
            </a:r>
            <a:r>
              <a:rPr lang="en-US" dirty="0">
                <a:latin typeface="Cambria" panose="02040503050406030204" pitchFamily="18" charset="0"/>
                <a:cs typeface="Century Schoolbook"/>
              </a:rPr>
              <a:t>electrons  </a:t>
            </a:r>
          </a:p>
          <a:p>
            <a:pPr marL="927100" marR="3823335" lvl="2">
              <a:lnSpc>
                <a:spcPct val="150000"/>
              </a:lnSpc>
              <a:buSzPct val="94444"/>
              <a:tabLst>
                <a:tab pos="1117600" algn="l"/>
              </a:tabLst>
            </a:pPr>
            <a:r>
              <a:rPr lang="en-US" spc="-5" dirty="0">
                <a:latin typeface="Cambria" panose="02040503050406030204" pitchFamily="18" charset="0"/>
                <a:cs typeface="Century Schoolbook"/>
              </a:rPr>
              <a:t>3.Forbidden </a:t>
            </a:r>
            <a:r>
              <a:rPr lang="en-US" dirty="0">
                <a:latin typeface="Cambria" panose="02040503050406030204" pitchFamily="18" charset="0"/>
                <a:cs typeface="Century Schoolbook"/>
              </a:rPr>
              <a:t>energy</a:t>
            </a:r>
            <a:r>
              <a:rPr lang="en-US" spc="-70" dirty="0">
                <a:latin typeface="Cambria" panose="02040503050406030204" pitchFamily="18" charset="0"/>
                <a:cs typeface="Century Schoolbook"/>
              </a:rPr>
              <a:t> </a:t>
            </a:r>
            <a:r>
              <a:rPr lang="en-US" spc="-5" dirty="0">
                <a:latin typeface="Cambria" panose="02040503050406030204" pitchFamily="18" charset="0"/>
                <a:cs typeface="Century Schoolbook"/>
              </a:rPr>
              <a:t>gap</a:t>
            </a:r>
          </a:p>
          <a:p>
            <a:pPr marL="2984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spc="-5" dirty="0">
                <a:latin typeface="Cambria" panose="02040503050406030204" pitchFamily="18" charset="0"/>
                <a:cs typeface="Century Schoolbook"/>
              </a:rPr>
              <a:t>Valance</a:t>
            </a:r>
            <a:r>
              <a:rPr lang="en-US" b="1" spc="-65" dirty="0">
                <a:latin typeface="Cambria" panose="02040503050406030204" pitchFamily="18" charset="0"/>
                <a:cs typeface="Century Schoolbook"/>
              </a:rPr>
              <a:t> </a:t>
            </a:r>
            <a:r>
              <a:rPr lang="en-US" b="1" spc="-5" dirty="0">
                <a:latin typeface="Cambria" panose="02040503050406030204" pitchFamily="18" charset="0"/>
                <a:cs typeface="Century Schoolbook"/>
              </a:rPr>
              <a:t>electron: determines </a:t>
            </a:r>
            <a:r>
              <a:rPr lang="en-US" dirty="0">
                <a:latin typeface="Cambria" panose="02040503050406030204" pitchFamily="18" charset="0"/>
                <a:cs typeface="Century Schoolbook"/>
              </a:rPr>
              <a:t>the </a:t>
            </a:r>
            <a:r>
              <a:rPr lang="en-US" spc="-5" dirty="0">
                <a:latin typeface="Cambria" panose="02040503050406030204" pitchFamily="18" charset="0"/>
                <a:cs typeface="Century Schoolbook"/>
              </a:rPr>
              <a:t>metal, non-metal, solids, </a:t>
            </a:r>
            <a:r>
              <a:rPr lang="en-US" dirty="0">
                <a:latin typeface="Cambria" panose="02040503050406030204" pitchFamily="18" charset="0"/>
                <a:cs typeface="Century Schoolbook"/>
              </a:rPr>
              <a:t>gas, and </a:t>
            </a:r>
            <a:r>
              <a:rPr lang="en-US" spc="-5" dirty="0">
                <a:latin typeface="Cambria" panose="02040503050406030204" pitchFamily="18" charset="0"/>
                <a:cs typeface="Century Schoolbook"/>
              </a:rPr>
              <a:t>electrical  properties </a:t>
            </a:r>
            <a:r>
              <a:rPr lang="en-US" dirty="0">
                <a:latin typeface="Cambria" panose="02040503050406030204" pitchFamily="18" charset="0"/>
                <a:cs typeface="Century Schoolbook"/>
              </a:rPr>
              <a:t>of a </a:t>
            </a:r>
            <a:r>
              <a:rPr lang="en-US" spc="-5" dirty="0">
                <a:latin typeface="Cambria" panose="02040503050406030204" pitchFamily="18" charset="0"/>
                <a:cs typeface="Century Schoolbook"/>
              </a:rPr>
              <a:t>material based </a:t>
            </a:r>
            <a:r>
              <a:rPr lang="en-US" b="1" spc="-5" dirty="0">
                <a:latin typeface="Cambria" panose="02040503050406030204" pitchFamily="18" charset="0"/>
                <a:cs typeface="Century Schoolbook"/>
              </a:rPr>
              <a:t>on outermost </a:t>
            </a:r>
            <a:r>
              <a:rPr lang="en-US" spc="-5" dirty="0">
                <a:latin typeface="Cambria" panose="02040503050406030204" pitchFamily="18" charset="0"/>
                <a:cs typeface="Century Schoolbook"/>
              </a:rPr>
              <a:t>valance</a:t>
            </a:r>
            <a:r>
              <a:rPr lang="en-US" spc="35" dirty="0">
                <a:latin typeface="Cambria" panose="02040503050406030204" pitchFamily="18" charset="0"/>
                <a:cs typeface="Century Schoolbook"/>
              </a:rPr>
              <a:t> </a:t>
            </a:r>
            <a:r>
              <a:rPr lang="en-US" dirty="0">
                <a:latin typeface="Cambria" panose="02040503050406030204" pitchFamily="18" charset="0"/>
                <a:cs typeface="Century Schoolbook"/>
              </a:rPr>
              <a:t>electron.</a:t>
            </a:r>
          </a:p>
          <a:p>
            <a:pPr marL="2984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pc="-5" dirty="0">
                <a:latin typeface="Cambria" panose="02040503050406030204" pitchFamily="18" charset="0"/>
                <a:cs typeface="Century Schoolbook"/>
              </a:rPr>
              <a:t>Electrical </a:t>
            </a:r>
            <a:r>
              <a:rPr lang="en-US" dirty="0">
                <a:latin typeface="Cambria" panose="02040503050406030204" pitchFamily="18" charset="0"/>
                <a:cs typeface="Century Schoolbook"/>
              </a:rPr>
              <a:t>conductivity </a:t>
            </a:r>
            <a:r>
              <a:rPr lang="en-US" spc="-10" dirty="0">
                <a:latin typeface="Cambria" panose="02040503050406030204" pitchFamily="18" charset="0"/>
                <a:cs typeface="Century Schoolbook"/>
              </a:rPr>
              <a:t>of </a:t>
            </a:r>
            <a:r>
              <a:rPr lang="en-US" spc="-5" dirty="0">
                <a:latin typeface="Cambria" panose="02040503050406030204" pitchFamily="18" charset="0"/>
                <a:cs typeface="Century Schoolbook"/>
              </a:rPr>
              <a:t>material are classified</a:t>
            </a:r>
            <a:r>
              <a:rPr lang="en-US" spc="35" dirty="0">
                <a:latin typeface="Cambria" panose="02040503050406030204" pitchFamily="18" charset="0"/>
                <a:cs typeface="Century Schoolbook"/>
              </a:rPr>
              <a:t> </a:t>
            </a:r>
            <a:r>
              <a:rPr lang="en-US" dirty="0">
                <a:latin typeface="Cambria" panose="02040503050406030204" pitchFamily="18" charset="0"/>
                <a:cs typeface="Century Schoolbook"/>
              </a:rPr>
              <a:t>into</a:t>
            </a:r>
          </a:p>
          <a:p>
            <a:pPr marL="2184400" marR="435356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pc="-5" dirty="0">
                <a:latin typeface="Cambria" panose="02040503050406030204" pitchFamily="18" charset="0"/>
                <a:cs typeface="Century Schoolbook"/>
              </a:rPr>
              <a:t>co</a:t>
            </a:r>
            <a:r>
              <a:rPr lang="en-US" spc="5" dirty="0">
                <a:latin typeface="Cambria" panose="02040503050406030204" pitchFamily="18" charset="0"/>
                <a:cs typeface="Century Schoolbook"/>
              </a:rPr>
              <a:t>n</a:t>
            </a:r>
            <a:r>
              <a:rPr lang="en-US" spc="-5" dirty="0">
                <a:latin typeface="Cambria" panose="02040503050406030204" pitchFamily="18" charset="0"/>
                <a:cs typeface="Century Schoolbook"/>
              </a:rPr>
              <a:t>d</a:t>
            </a:r>
            <a:r>
              <a:rPr lang="en-US" spc="5" dirty="0">
                <a:latin typeface="Cambria" panose="02040503050406030204" pitchFamily="18" charset="0"/>
                <a:cs typeface="Century Schoolbook"/>
              </a:rPr>
              <a:t>u</a:t>
            </a:r>
            <a:r>
              <a:rPr lang="en-US" spc="-5" dirty="0">
                <a:latin typeface="Cambria" panose="02040503050406030204" pitchFamily="18" charset="0"/>
                <a:cs typeface="Century Schoolbook"/>
              </a:rPr>
              <a:t>c</a:t>
            </a:r>
            <a:r>
              <a:rPr lang="en-US" dirty="0">
                <a:latin typeface="Cambria" panose="02040503050406030204" pitchFamily="18" charset="0"/>
                <a:cs typeface="Century Schoolbook"/>
              </a:rPr>
              <a:t>t</a:t>
            </a:r>
            <a:r>
              <a:rPr lang="en-US" spc="-15" dirty="0">
                <a:latin typeface="Cambria" panose="02040503050406030204" pitchFamily="18" charset="0"/>
                <a:cs typeface="Century Schoolbook"/>
              </a:rPr>
              <a:t>o</a:t>
            </a:r>
            <a:r>
              <a:rPr lang="en-US" dirty="0">
                <a:latin typeface="Cambria" panose="02040503050406030204" pitchFamily="18" charset="0"/>
                <a:cs typeface="Century Schoolbook"/>
              </a:rPr>
              <a:t>r  </a:t>
            </a:r>
          </a:p>
          <a:p>
            <a:pPr marL="2184400" marR="435356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pc="-5" dirty="0">
                <a:latin typeface="Cambria" panose="02040503050406030204" pitchFamily="18" charset="0"/>
                <a:cs typeface="Century Schoolbook"/>
              </a:rPr>
              <a:t>insulator</a:t>
            </a:r>
            <a:endParaRPr lang="en-US" dirty="0">
              <a:latin typeface="Cambria" panose="02040503050406030204" pitchFamily="18" charset="0"/>
              <a:cs typeface="Century Schoolbook"/>
            </a:endParaRPr>
          </a:p>
          <a:p>
            <a:pPr marL="21844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pc="-5" dirty="0">
                <a:latin typeface="Cambria" panose="02040503050406030204" pitchFamily="18" charset="0"/>
                <a:cs typeface="Century Schoolbook"/>
              </a:rPr>
              <a:t>semi-conductor</a:t>
            </a:r>
            <a:endParaRPr lang="en-US" dirty="0">
              <a:latin typeface="Cambria" panose="02040503050406030204" pitchFamily="18" charset="0"/>
              <a:cs typeface="Century Schoolbook"/>
            </a:endParaRPr>
          </a:p>
          <a:p>
            <a:pPr marL="2984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cs typeface="Century Schoolbook"/>
              </a:rPr>
              <a:t>Free Electrons </a:t>
            </a:r>
            <a:r>
              <a:rPr lang="en-US" i="1" spc="-5" dirty="0">
                <a:latin typeface="Cambria" panose="02040503050406030204" pitchFamily="18" charset="0"/>
                <a:cs typeface="Century Schoolbook"/>
              </a:rPr>
              <a:t>valance electrons </a:t>
            </a:r>
            <a:r>
              <a:rPr lang="en-US" i="1" dirty="0">
                <a:latin typeface="Cambria" panose="02040503050406030204" pitchFamily="18" charset="0"/>
                <a:cs typeface="Century Schoolbook"/>
              </a:rPr>
              <a:t>which are </a:t>
            </a:r>
            <a:r>
              <a:rPr lang="en-US" b="1" i="1" spc="-5" dirty="0">
                <a:latin typeface="Cambria" panose="02040503050406030204" pitchFamily="18" charset="0"/>
                <a:cs typeface="Century Schoolbook"/>
              </a:rPr>
              <a:t>Loosely attached to</a:t>
            </a:r>
            <a:r>
              <a:rPr lang="en-US" b="1" i="1" spc="55" dirty="0">
                <a:latin typeface="Cambria" panose="02040503050406030204" pitchFamily="18" charset="0"/>
                <a:cs typeface="Century Schoolbook"/>
              </a:rPr>
              <a:t> </a:t>
            </a:r>
            <a:r>
              <a:rPr lang="en-US" b="1" i="1" dirty="0">
                <a:latin typeface="Cambria" panose="02040503050406030204" pitchFamily="18" charset="0"/>
                <a:cs typeface="Century Schoolbook"/>
              </a:rPr>
              <a:t>the</a:t>
            </a:r>
            <a:endParaRPr lang="en-US" dirty="0">
              <a:latin typeface="Cambria" panose="02040503050406030204" pitchFamily="18" charset="0"/>
              <a:cs typeface="Century Schoolbook"/>
            </a:endParaRPr>
          </a:p>
          <a:p>
            <a:pPr marL="12700">
              <a:lnSpc>
                <a:spcPct val="150000"/>
              </a:lnSpc>
            </a:pPr>
            <a:r>
              <a:rPr lang="en-US" b="1" i="1" spc="-5" dirty="0">
                <a:latin typeface="Cambria" panose="02040503050406030204" pitchFamily="18" charset="0"/>
                <a:cs typeface="Century Schoolbook"/>
              </a:rPr>
              <a:t>nucleus</a:t>
            </a:r>
            <a:endParaRPr lang="en-US" dirty="0">
              <a:latin typeface="Cambria" panose="02040503050406030204" pitchFamily="18" charset="0"/>
              <a:cs typeface="Century Schoolbook"/>
            </a:endParaRPr>
          </a:p>
          <a:p>
            <a:pPr marL="298450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cs typeface="Century Schoolbook"/>
            </a:endParaRPr>
          </a:p>
          <a:p>
            <a:pPr marL="298450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cs typeface="Century Schoolbook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23674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70569" y="5875020"/>
            <a:ext cx="12763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dirty="0">
                <a:solidFill>
                  <a:srgbClr val="FFFFFF"/>
                </a:solidFill>
                <a:latin typeface="Century Schoolbook"/>
                <a:cs typeface="Century Schoolbook"/>
              </a:rPr>
              <a:t>6</a:t>
            </a:r>
            <a:endParaRPr sz="1400" dirty="0">
              <a:latin typeface="Century Schoolbook"/>
              <a:cs typeface="Century Schoolbook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5536" y="188640"/>
            <a:ext cx="79750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</a:rPr>
              <a:t>Classification of Solids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9552" y="650305"/>
            <a:ext cx="5097213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i="1" dirty="0">
                <a:latin typeface="Cambria" panose="02040503050406030204" pitchFamily="18" charset="0"/>
              </a:rPr>
              <a:t>Conductor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</a:rPr>
              <a:t>It is a material that easily conducts electrical current.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</a:rPr>
              <a:t>It has large number of free electrons loosely bound to the atoms.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</a:rPr>
              <a:t>These loosely bound valance electrons can easily break away from their atoms and become free electrons.  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</a:rPr>
              <a:t>Forbidden energy gap does not exist.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Cambria" panose="02040503050406030204" pitchFamily="18" charset="0"/>
              </a:rPr>
              <a:t>Examples : </a:t>
            </a:r>
            <a:r>
              <a:rPr lang="en-US" dirty="0">
                <a:latin typeface="Cambria" panose="02040503050406030204" pitchFamily="18" charset="0"/>
              </a:rPr>
              <a:t>Copper, Gold, Silver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7" name="object 5"/>
          <p:cNvSpPr/>
          <p:nvPr/>
        </p:nvSpPr>
        <p:spPr>
          <a:xfrm>
            <a:off x="5636765" y="631620"/>
            <a:ext cx="2877820" cy="24625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xmlns="" val="3538745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70569" y="5875020"/>
            <a:ext cx="12763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dirty="0">
                <a:solidFill>
                  <a:srgbClr val="FFFFFF"/>
                </a:solidFill>
                <a:latin typeface="Century Schoolbook"/>
                <a:cs typeface="Century Schoolbook"/>
              </a:rPr>
              <a:t>7</a:t>
            </a:r>
            <a:endParaRPr sz="1400" dirty="0">
              <a:latin typeface="Century Schoolbook"/>
              <a:cs typeface="Century Schoolbook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5536" y="188640"/>
            <a:ext cx="79750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</a:rPr>
              <a:t>Classification of Solids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9552" y="650305"/>
            <a:ext cx="509721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i="1" dirty="0">
                <a:latin typeface="Cambria" panose="02040503050406030204" pitchFamily="18" charset="0"/>
              </a:rPr>
              <a:t>Insulator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</a:rPr>
              <a:t>It is a material that does not conduct electrical current under normal condition.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</a:rPr>
              <a:t>It has no free electrons.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</a:rPr>
              <a:t>The valance electrons are tightly bound to the atoms.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</a:rPr>
              <a:t>Forbidden energy gap &gt; 5eV.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Cambria" panose="02040503050406030204" pitchFamily="18" charset="0"/>
              </a:rPr>
              <a:t>Examples : </a:t>
            </a:r>
            <a:r>
              <a:rPr lang="en-US" dirty="0">
                <a:latin typeface="Cambria" panose="02040503050406030204" pitchFamily="18" charset="0"/>
              </a:rPr>
              <a:t>Paper, rubber, glass etc.,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9" name="object 3"/>
          <p:cNvSpPr/>
          <p:nvPr/>
        </p:nvSpPr>
        <p:spPr>
          <a:xfrm>
            <a:off x="6038215" y="419472"/>
            <a:ext cx="2599798" cy="31535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xmlns="" val="605509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70569" y="5875020"/>
            <a:ext cx="12763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dirty="0">
                <a:solidFill>
                  <a:srgbClr val="FFFFFF"/>
                </a:solidFill>
                <a:latin typeface="Century Schoolbook"/>
                <a:cs typeface="Century Schoolbook"/>
              </a:rPr>
              <a:t>8</a:t>
            </a:r>
            <a:endParaRPr sz="1400" dirty="0">
              <a:latin typeface="Century Schoolbook"/>
              <a:cs typeface="Century Schoolbook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5536" y="188640"/>
            <a:ext cx="79750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</a:rPr>
              <a:t>Classification of Solids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9552" y="650305"/>
            <a:ext cx="509721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i="1" dirty="0">
                <a:latin typeface="Cambria" panose="02040503050406030204" pitchFamily="18" charset="0"/>
              </a:rPr>
              <a:t>Semiconductor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</a:rPr>
              <a:t>Semiconductors are the materials that possess the property of electrical conductivity less than conductors.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</a:rPr>
              <a:t>A semiconductor in its pure state is neither a good conductor nor a good isolator.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</a:rPr>
              <a:t>It has very few free electrons.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</a:rPr>
              <a:t>Forbidden energy gap very small (1eV).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Cambria" panose="02040503050406030204" pitchFamily="18" charset="0"/>
              </a:rPr>
              <a:t>Examples : </a:t>
            </a:r>
            <a:r>
              <a:rPr lang="en-US" dirty="0">
                <a:latin typeface="Cambria" panose="02040503050406030204" pitchFamily="18" charset="0"/>
              </a:rPr>
              <a:t>Silicon, Germanium, Arsenic etc.,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7" name="object 3"/>
          <p:cNvSpPr/>
          <p:nvPr/>
        </p:nvSpPr>
        <p:spPr>
          <a:xfrm>
            <a:off x="5636765" y="1311116"/>
            <a:ext cx="3096203" cy="21621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xmlns="" val="3613886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70569" y="5875020"/>
            <a:ext cx="12763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dirty="0">
                <a:solidFill>
                  <a:srgbClr val="FFFFFF"/>
                </a:solidFill>
                <a:latin typeface="Century Schoolbook"/>
                <a:cs typeface="Century Schoolbook"/>
              </a:rPr>
              <a:t>9</a:t>
            </a:r>
            <a:endParaRPr sz="1400" dirty="0">
              <a:latin typeface="Century Schoolbook"/>
              <a:cs typeface="Century Schoolbook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5536" y="188640"/>
            <a:ext cx="79750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</a:rPr>
              <a:t>Classification of Solids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052736"/>
            <a:ext cx="8324613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937375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70569" y="5875020"/>
            <a:ext cx="12763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dirty="0">
                <a:solidFill>
                  <a:srgbClr val="FFFFFF"/>
                </a:solidFill>
                <a:latin typeface="Century Schoolbook"/>
                <a:cs typeface="Century Schoolbook"/>
              </a:rPr>
              <a:t>3</a:t>
            </a:r>
            <a:endParaRPr sz="1400" dirty="0">
              <a:latin typeface="Century Schoolbook"/>
              <a:cs typeface="Century Schoolbook"/>
            </a:endParaRPr>
          </a:p>
        </p:txBody>
      </p:sp>
      <p:sp>
        <p:nvSpPr>
          <p:cNvPr id="8" name="object 17"/>
          <p:cNvSpPr txBox="1"/>
          <p:nvPr/>
        </p:nvSpPr>
        <p:spPr>
          <a:xfrm>
            <a:off x="2863850" y="6296278"/>
            <a:ext cx="3174365" cy="1949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en-US" sz="1200" spc="-5" dirty="0">
                <a:solidFill>
                  <a:srgbClr val="4D5A6E"/>
                </a:solidFill>
                <a:latin typeface="Century Schoolbook"/>
                <a:cs typeface="Century Schoolbook"/>
              </a:rPr>
              <a:t>NEC – 19EC31C </a:t>
            </a:r>
            <a:r>
              <a:rPr sz="1200" spc="-5" dirty="0">
                <a:solidFill>
                  <a:srgbClr val="4D5A6E"/>
                </a:solidFill>
                <a:latin typeface="Century Schoolbook"/>
                <a:cs typeface="Century Schoolbook"/>
              </a:rPr>
              <a:t>ELECTRONIC</a:t>
            </a:r>
            <a:r>
              <a:rPr sz="1200" spc="-25" dirty="0">
                <a:solidFill>
                  <a:srgbClr val="4D5A6E"/>
                </a:solidFill>
                <a:latin typeface="Century Schoolbook"/>
                <a:cs typeface="Century Schoolbook"/>
              </a:rPr>
              <a:t> </a:t>
            </a:r>
            <a:r>
              <a:rPr sz="1200" spc="-5" dirty="0">
                <a:solidFill>
                  <a:srgbClr val="4D5A6E"/>
                </a:solidFill>
                <a:latin typeface="Century Schoolbook"/>
                <a:cs typeface="Century Schoolbook"/>
              </a:rPr>
              <a:t>DEVICES</a:t>
            </a:r>
            <a:endParaRPr sz="1200" dirty="0">
              <a:latin typeface="Century Schoolbook"/>
              <a:cs typeface="Century Schoolbook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5536" y="188640"/>
            <a:ext cx="79750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</a:rPr>
              <a:t>Comparison Chart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583924898"/>
              </p:ext>
            </p:extLst>
          </p:nvPr>
        </p:nvGraphicFramePr>
        <p:xfrm>
          <a:off x="539552" y="650305"/>
          <a:ext cx="8146059" cy="61724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537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6496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Conductor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Semiconductor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Insulator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6496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</a:rPr>
                        <a:t>Forbidden</a:t>
                      </a:r>
                      <a:r>
                        <a:rPr lang="en-US" baseline="0" dirty="0">
                          <a:latin typeface="Cambria" panose="02040503050406030204" pitchFamily="18" charset="0"/>
                        </a:rPr>
                        <a:t> Energy Gap</a:t>
                      </a:r>
                      <a:endParaRPr lang="en-US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</a:rPr>
                        <a:t>Not Exist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</a:rPr>
                        <a:t>Small (1eV)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</a:rPr>
                        <a:t>Large (&gt;5eV)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6496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</a:rPr>
                        <a:t>Resistivity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</a:rPr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</a:rPr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94406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  <a:latin typeface="Cambria" panose="02040503050406030204" pitchFamily="18" charset="0"/>
                        </a:rPr>
                        <a:t>Flow of current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  <a:latin typeface="Cambria" panose="02040503050406030204" pitchFamily="18" charset="0"/>
                        </a:rPr>
                        <a:t>Due to movement of free electrons.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  <a:latin typeface="Cambria" panose="02040503050406030204" pitchFamily="18" charset="0"/>
                        </a:rPr>
                        <a:t>Due to movement of electrons and holes.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  <a:latin typeface="Cambria" panose="02040503050406030204" pitchFamily="18" charset="0"/>
                        </a:rPr>
                        <a:t>Almost negligible but only due to free electrons.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99104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  <a:latin typeface="Cambria" panose="02040503050406030204" pitchFamily="18" charset="0"/>
                        </a:rPr>
                        <a:t>Charge carriers in conduction band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  <a:latin typeface="Cambria" panose="02040503050406030204" pitchFamily="18" charset="0"/>
                        </a:rPr>
                        <a:t>Completely filled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  <a:latin typeface="Cambria" panose="02040503050406030204" pitchFamily="18" charset="0"/>
                        </a:rPr>
                        <a:t>Partially filled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  <a:latin typeface="Cambria" panose="02040503050406030204" pitchFamily="18" charset="0"/>
                        </a:rPr>
                        <a:t>Completely vacant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99104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  <a:latin typeface="Cambria" panose="02040503050406030204" pitchFamily="18" charset="0"/>
                        </a:rPr>
                        <a:t>Charge carriers in valence band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  <a:latin typeface="Cambria" panose="02040503050406030204" pitchFamily="18" charset="0"/>
                        </a:rPr>
                        <a:t>Almost vacant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  <a:latin typeface="Cambria" panose="02040503050406030204" pitchFamily="18" charset="0"/>
                        </a:rPr>
                        <a:t>Partially filled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  <a:latin typeface="Cambria" panose="02040503050406030204" pitchFamily="18" charset="0"/>
                        </a:rPr>
                        <a:t>Completely filled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94406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  <a:latin typeface="Cambria" panose="02040503050406030204" pitchFamily="18" charset="0"/>
                        </a:rPr>
                        <a:t>Example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  <a:latin typeface="Cambria" panose="02040503050406030204" pitchFamily="18" charset="0"/>
                        </a:rPr>
                        <a:t>Copper, </a:t>
                      </a:r>
                      <a:r>
                        <a:rPr lang="en-US" dirty="0" err="1">
                          <a:effectLst/>
                          <a:latin typeface="Cambria" panose="02040503050406030204" pitchFamily="18" charset="0"/>
                        </a:rPr>
                        <a:t>Aluminium</a:t>
                      </a:r>
                      <a:r>
                        <a:rPr lang="en-US" dirty="0">
                          <a:effectLst/>
                          <a:latin typeface="Cambria" panose="02040503050406030204" pitchFamily="18" charset="0"/>
                        </a:rPr>
                        <a:t>, graphite etc.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  <a:latin typeface="Cambria" panose="02040503050406030204" pitchFamily="18" charset="0"/>
                        </a:rPr>
                        <a:t>Silicon, Germanium, arsenic etc.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nb-NO">
                          <a:effectLst/>
                          <a:latin typeface="Cambria" panose="02040503050406030204" pitchFamily="18" charset="0"/>
                        </a:rPr>
                        <a:t>Paper, rubber, glass, plastic etc.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085009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  <a:latin typeface="Cambria" panose="02040503050406030204" pitchFamily="18" charset="0"/>
                        </a:rPr>
                        <a:t>Applications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  <a:latin typeface="Cambria" panose="02040503050406030204" pitchFamily="18" charset="0"/>
                        </a:rPr>
                        <a:t>Conducting wires, Transformers, in electrical cords etc.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  <a:latin typeface="Cambria" panose="02040503050406030204" pitchFamily="18" charset="0"/>
                        </a:rPr>
                        <a:t>Diodes, transistors, </a:t>
                      </a:r>
                      <a:r>
                        <a:rPr lang="en-US" dirty="0" err="1">
                          <a:effectLst/>
                          <a:latin typeface="Cambria" panose="02040503050406030204" pitchFamily="18" charset="0"/>
                        </a:rPr>
                        <a:t>opto</a:t>
                      </a:r>
                      <a:r>
                        <a:rPr lang="en-US" dirty="0">
                          <a:effectLst/>
                          <a:latin typeface="Cambria" panose="02040503050406030204" pitchFamily="18" charset="0"/>
                        </a:rPr>
                        <a:t> couplers etc.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  <a:latin typeface="Cambria" panose="02040503050406030204" pitchFamily="18" charset="0"/>
                        </a:rPr>
                        <a:t>Sports equipment, home appliances etc.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736625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0869" y="149859"/>
            <a:ext cx="4086225" cy="369332"/>
          </a:xfrm>
        </p:spPr>
        <p:txBody>
          <a:bodyPr/>
          <a:lstStyle/>
          <a:p>
            <a:r>
              <a:rPr lang="en-US" sz="2400" dirty="0">
                <a:latin typeface="Cambria" panose="02040503050406030204" pitchFamily="18" charset="0"/>
              </a:rPr>
              <a:t>Semiconductor Materials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544" y="692696"/>
            <a:ext cx="8064896" cy="2492990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i="0" dirty="0">
                <a:latin typeface="Cambria" panose="02040503050406030204" pitchFamily="18" charset="0"/>
              </a:rPr>
              <a:t>Semiconductors are the group of materials having conductivities between those of metals and insulators.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i="0" dirty="0">
                <a:latin typeface="Cambria" panose="02040503050406030204" pitchFamily="18" charset="0"/>
              </a:rPr>
              <a:t>Two general classifications of semiconductors are</a:t>
            </a: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en-US" dirty="0">
                <a:latin typeface="Cambria" panose="02040503050406030204" pitchFamily="18" charset="0"/>
              </a:rPr>
              <a:t>Elemental semiconductors (found in group IV of the periodic table)</a:t>
            </a: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en-US" i="0" dirty="0">
                <a:latin typeface="Cambria" panose="02040503050406030204" pitchFamily="18" charset="0"/>
              </a:rPr>
              <a:t>Compound Semiconductors (formed from special combinations of group III and group V elements).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96146876"/>
              </p:ext>
            </p:extLst>
          </p:nvPr>
        </p:nvGraphicFramePr>
        <p:xfrm>
          <a:off x="251520" y="3717032"/>
          <a:ext cx="3456384" cy="18542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</a:rPr>
                        <a:t>III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</a:rPr>
                        <a:t>IV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</a:rPr>
                        <a:t>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</a:rPr>
                        <a:t>5)    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</a:rPr>
                        <a:t>6)    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</a:rPr>
                        <a:t>13)   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</a:rPr>
                        <a:t>14)   Si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</a:rPr>
                        <a:t>15)   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</a:rPr>
                        <a:t>31)</a:t>
                      </a:r>
                      <a:r>
                        <a:rPr lang="en-US" baseline="0" dirty="0">
                          <a:latin typeface="Cambria" panose="02040503050406030204" pitchFamily="18" charset="0"/>
                        </a:rPr>
                        <a:t>  </a:t>
                      </a:r>
                      <a:r>
                        <a:rPr lang="en-US" dirty="0" err="1">
                          <a:latin typeface="Cambria" panose="02040503050406030204" pitchFamily="18" charset="0"/>
                        </a:rPr>
                        <a:t>Ga</a:t>
                      </a:r>
                      <a:endParaRPr lang="en-US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</a:rPr>
                        <a:t>32)   </a:t>
                      </a:r>
                      <a:r>
                        <a:rPr lang="en-US" dirty="0" err="1">
                          <a:latin typeface="Cambria" panose="02040503050406030204" pitchFamily="18" charset="0"/>
                        </a:rPr>
                        <a:t>Ge</a:t>
                      </a:r>
                      <a:endParaRPr lang="en-US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</a:rPr>
                        <a:t>33)   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</a:rPr>
                        <a:t>49)   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</a:rPr>
                        <a:t>51)   </a:t>
                      </a:r>
                      <a:r>
                        <a:rPr lang="en-US" dirty="0" err="1">
                          <a:latin typeface="Cambria" panose="02040503050406030204" pitchFamily="18" charset="0"/>
                        </a:rPr>
                        <a:t>Sb</a:t>
                      </a:r>
                      <a:endParaRPr lang="en-US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1520" y="3350916"/>
            <a:ext cx="345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Cambria" panose="02040503050406030204" pitchFamily="18" charset="0"/>
              </a:rPr>
              <a:t>A portion of the Periodic Table 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335702158"/>
              </p:ext>
            </p:extLst>
          </p:nvPr>
        </p:nvGraphicFramePr>
        <p:xfrm>
          <a:off x="4067944" y="2924944"/>
          <a:ext cx="4007768" cy="10109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00776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Elemental Semiconductors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Si</a:t>
                      </a:r>
                      <a:r>
                        <a:rPr lang="en-US" baseline="0" dirty="0">
                          <a:latin typeface="Cambria" panose="02040503050406030204" pitchFamily="18" charset="0"/>
                        </a:rPr>
                        <a:t> – Silicon</a:t>
                      </a:r>
                    </a:p>
                    <a:p>
                      <a:r>
                        <a:rPr lang="en-US" baseline="0" dirty="0" err="1">
                          <a:latin typeface="Cambria" panose="02040503050406030204" pitchFamily="18" charset="0"/>
                        </a:rPr>
                        <a:t>Ge</a:t>
                      </a:r>
                      <a:r>
                        <a:rPr lang="en-US" baseline="0" dirty="0">
                          <a:latin typeface="Cambria" panose="02040503050406030204" pitchFamily="18" charset="0"/>
                        </a:rPr>
                        <a:t> - Germanium</a:t>
                      </a:r>
                      <a:endParaRPr lang="en-US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869795199"/>
              </p:ext>
            </p:extLst>
          </p:nvPr>
        </p:nvGraphicFramePr>
        <p:xfrm>
          <a:off x="4092624" y="4077072"/>
          <a:ext cx="4007768" cy="2519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00776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Compound</a:t>
                      </a:r>
                      <a:r>
                        <a:rPr lang="en-US" baseline="0" dirty="0">
                          <a:latin typeface="Cambria" panose="02040503050406030204" pitchFamily="18" charset="0"/>
                        </a:rPr>
                        <a:t> </a:t>
                      </a:r>
                      <a:r>
                        <a:rPr lang="en-US" dirty="0">
                          <a:latin typeface="Cambria" panose="02040503050406030204" pitchFamily="18" charset="0"/>
                        </a:rPr>
                        <a:t>Semiconductors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 err="1">
                          <a:latin typeface="Cambria" panose="02040503050406030204" pitchFamily="18" charset="0"/>
                        </a:rPr>
                        <a:t>AlP</a:t>
                      </a:r>
                      <a:r>
                        <a:rPr lang="en-US" baseline="0" dirty="0">
                          <a:latin typeface="Cambria" panose="02040503050406030204" pitchFamily="18" charset="0"/>
                        </a:rPr>
                        <a:t> – </a:t>
                      </a:r>
                      <a:r>
                        <a:rPr lang="en-US" baseline="0" dirty="0" err="1">
                          <a:latin typeface="Cambria" panose="02040503050406030204" pitchFamily="18" charset="0"/>
                        </a:rPr>
                        <a:t>Aluminium</a:t>
                      </a:r>
                      <a:r>
                        <a:rPr lang="en-US" baseline="0" dirty="0">
                          <a:latin typeface="Cambria" panose="02040503050406030204" pitchFamily="18" charset="0"/>
                        </a:rPr>
                        <a:t> </a:t>
                      </a:r>
                      <a:r>
                        <a:rPr lang="en-US" baseline="0" dirty="0" err="1">
                          <a:latin typeface="Cambria" panose="02040503050406030204" pitchFamily="18" charset="0"/>
                        </a:rPr>
                        <a:t>Phospide</a:t>
                      </a:r>
                      <a:endParaRPr lang="en-US" baseline="0" dirty="0">
                        <a:latin typeface="Cambria" panose="02040503050406030204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baseline="0" dirty="0" err="1">
                          <a:latin typeface="Cambria" panose="02040503050406030204" pitchFamily="18" charset="0"/>
                        </a:rPr>
                        <a:t>AlAs</a:t>
                      </a:r>
                      <a:r>
                        <a:rPr lang="en-US" baseline="0" dirty="0">
                          <a:latin typeface="Cambria" panose="02040503050406030204" pitchFamily="18" charset="0"/>
                        </a:rPr>
                        <a:t> – </a:t>
                      </a:r>
                      <a:r>
                        <a:rPr lang="en-US" baseline="0" dirty="0" err="1">
                          <a:latin typeface="Cambria" panose="02040503050406030204" pitchFamily="18" charset="0"/>
                        </a:rPr>
                        <a:t>Aluminium</a:t>
                      </a:r>
                      <a:r>
                        <a:rPr lang="en-US" baseline="0" dirty="0">
                          <a:latin typeface="Cambria" panose="02040503050406030204" pitchFamily="18" charset="0"/>
                        </a:rPr>
                        <a:t> Arsenide</a:t>
                      </a:r>
                    </a:p>
                    <a:p>
                      <a:pPr marL="0" marR="0" indent="0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err="1">
                          <a:latin typeface="Cambria" panose="02040503050406030204" pitchFamily="18" charset="0"/>
                        </a:rPr>
                        <a:t>GaP</a:t>
                      </a:r>
                      <a:r>
                        <a:rPr lang="en-US" baseline="0" dirty="0">
                          <a:latin typeface="Cambria" panose="02040503050406030204" pitchFamily="18" charset="0"/>
                        </a:rPr>
                        <a:t> – Gallium </a:t>
                      </a:r>
                      <a:r>
                        <a:rPr lang="en-US" baseline="0" dirty="0" err="1">
                          <a:latin typeface="Cambria" panose="02040503050406030204" pitchFamily="18" charset="0"/>
                        </a:rPr>
                        <a:t>Phospide</a:t>
                      </a:r>
                      <a:endParaRPr lang="en-US" baseline="0" dirty="0">
                        <a:latin typeface="Cambria" panose="02040503050406030204" pitchFamily="18" charset="0"/>
                      </a:endParaRPr>
                    </a:p>
                    <a:p>
                      <a:pPr marL="0" marR="0" indent="0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err="1">
                          <a:latin typeface="Cambria" panose="02040503050406030204" pitchFamily="18" charset="0"/>
                        </a:rPr>
                        <a:t>GaAs</a:t>
                      </a:r>
                      <a:r>
                        <a:rPr lang="en-US" baseline="0" dirty="0">
                          <a:latin typeface="Cambria" panose="02040503050406030204" pitchFamily="18" charset="0"/>
                        </a:rPr>
                        <a:t> – Gallium Arsenide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baseline="0" dirty="0" err="1">
                          <a:latin typeface="Cambria" panose="02040503050406030204" pitchFamily="18" charset="0"/>
                        </a:rPr>
                        <a:t>InP</a:t>
                      </a:r>
                      <a:r>
                        <a:rPr lang="en-US" baseline="0" dirty="0">
                          <a:latin typeface="Cambria" panose="02040503050406030204" pitchFamily="18" charset="0"/>
                        </a:rPr>
                        <a:t> – Indium </a:t>
                      </a:r>
                      <a:r>
                        <a:rPr lang="en-US" baseline="0" dirty="0" err="1">
                          <a:latin typeface="Cambria" panose="02040503050406030204" pitchFamily="18" charset="0"/>
                        </a:rPr>
                        <a:t>Phospide</a:t>
                      </a:r>
                      <a:endParaRPr lang="en-US" baseline="0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8" name="object 2"/>
          <p:cNvSpPr txBox="1"/>
          <p:nvPr/>
        </p:nvSpPr>
        <p:spPr>
          <a:xfrm>
            <a:off x="8316416" y="5875020"/>
            <a:ext cx="233879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dirty="0">
                <a:solidFill>
                  <a:srgbClr val="FFFFFF"/>
                </a:solidFill>
                <a:latin typeface="Century Schoolbook"/>
                <a:cs typeface="Century Schoolbook"/>
              </a:rPr>
              <a:t>11</a:t>
            </a:r>
            <a:endParaRPr sz="1400" dirty="0">
              <a:latin typeface="Century Schoolbook"/>
              <a:cs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91365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0869" y="149859"/>
            <a:ext cx="4086225" cy="369332"/>
          </a:xfrm>
        </p:spPr>
        <p:txBody>
          <a:bodyPr/>
          <a:lstStyle/>
          <a:p>
            <a:r>
              <a:rPr lang="en-US" sz="2400" dirty="0">
                <a:latin typeface="Cambria" panose="02040503050406030204" pitchFamily="18" charset="0"/>
              </a:rPr>
              <a:t>Semiconductor Materials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544" y="692697"/>
            <a:ext cx="8280920" cy="6165304"/>
          </a:xfrm>
        </p:spPr>
        <p:txBody>
          <a:bodyPr/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i="0" dirty="0">
                <a:latin typeface="Cambria" panose="02040503050406030204" pitchFamily="18" charset="0"/>
              </a:rPr>
              <a:t>Silicon is by far the most commonly used semiconductor used in integrated circuits.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i="0" dirty="0">
              <a:latin typeface="Cambria" panose="02040503050406030204" pitchFamily="18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i="0" dirty="0">
              <a:latin typeface="Cambria" panose="02040503050406030204" pitchFamily="18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i="0" dirty="0">
              <a:latin typeface="Cambria" panose="02040503050406030204" pitchFamily="18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i="0" dirty="0">
              <a:latin typeface="Cambria" panose="020405030504060302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i="0" dirty="0">
                <a:latin typeface="Cambria" panose="02040503050406030204" pitchFamily="18" charset="0"/>
              </a:rPr>
              <a:t>The Valance electrons in </a:t>
            </a:r>
            <a:r>
              <a:rPr lang="en-US" i="0" dirty="0" err="1">
                <a:latin typeface="Cambria" panose="02040503050406030204" pitchFamily="18" charset="0"/>
              </a:rPr>
              <a:t>Ge</a:t>
            </a:r>
            <a:r>
              <a:rPr lang="en-US" i="0" dirty="0">
                <a:latin typeface="Cambria" panose="02040503050406030204" pitchFamily="18" charset="0"/>
              </a:rPr>
              <a:t> are in the fourth shell, while in silicon are in third shell closer to the nucleus.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i="0" dirty="0">
                <a:latin typeface="Cambria" panose="02040503050406030204" pitchFamily="18" charset="0"/>
              </a:rPr>
              <a:t>This means that the </a:t>
            </a:r>
            <a:r>
              <a:rPr lang="en-US" i="0" dirty="0" err="1">
                <a:latin typeface="Cambria" panose="02040503050406030204" pitchFamily="18" charset="0"/>
              </a:rPr>
              <a:t>Ge</a:t>
            </a:r>
            <a:r>
              <a:rPr lang="en-US" i="0" dirty="0">
                <a:latin typeface="Cambria" panose="02040503050406030204" pitchFamily="18" charset="0"/>
              </a:rPr>
              <a:t> valance electrons are at higher levels than in silicon and require a smaller amount of energy to escape from the atom. This makes </a:t>
            </a:r>
            <a:r>
              <a:rPr lang="en-US" i="0" dirty="0" err="1">
                <a:latin typeface="Cambria" panose="02040503050406030204" pitchFamily="18" charset="0"/>
              </a:rPr>
              <a:t>Ge</a:t>
            </a:r>
            <a:r>
              <a:rPr lang="en-US" i="0" dirty="0">
                <a:latin typeface="Cambria" panose="02040503050406030204" pitchFamily="18" charset="0"/>
              </a:rPr>
              <a:t> more unstable at high temperatures.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i="0" dirty="0">
                <a:latin typeface="Cambria" panose="02040503050406030204" pitchFamily="18" charset="0"/>
              </a:rPr>
              <a:t>Two elements or “binary” compound semiconductors- </a:t>
            </a:r>
            <a:r>
              <a:rPr lang="en-US" i="0" dirty="0" err="1">
                <a:latin typeface="Cambria" panose="02040503050406030204" pitchFamily="18" charset="0"/>
              </a:rPr>
              <a:t>GaAs</a:t>
            </a:r>
            <a:r>
              <a:rPr lang="en-US" i="0" dirty="0">
                <a:latin typeface="Cambria" panose="02040503050406030204" pitchFamily="18" charset="0"/>
              </a:rPr>
              <a:t>, </a:t>
            </a:r>
            <a:r>
              <a:rPr lang="en-US" i="0" dirty="0" err="1">
                <a:latin typeface="Cambria" panose="02040503050406030204" pitchFamily="18" charset="0"/>
              </a:rPr>
              <a:t>GaP</a:t>
            </a:r>
            <a:endParaRPr lang="en-US" i="0" dirty="0">
              <a:latin typeface="Cambria" panose="020405030504060302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i="0" dirty="0">
                <a:latin typeface="Cambria" panose="02040503050406030204" pitchFamily="18" charset="0"/>
              </a:rPr>
              <a:t>Three element or “ternary”  compound semiconductors – </a:t>
            </a:r>
            <a:r>
              <a:rPr lang="en-US" i="0" dirty="0" err="1">
                <a:latin typeface="Cambria" panose="02040503050406030204" pitchFamily="18" charset="0"/>
              </a:rPr>
              <a:t>AlGaAs</a:t>
            </a:r>
            <a:endParaRPr lang="en-US" i="0" dirty="0">
              <a:latin typeface="Cambria" panose="02040503050406030204" pitchFamily="18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i="0" dirty="0">
              <a:latin typeface="Cambria" panose="02040503050406030204" pitchFamily="18" charset="0"/>
            </a:endParaRPr>
          </a:p>
          <a:p>
            <a:pPr>
              <a:lnSpc>
                <a:spcPct val="200000"/>
              </a:lnSpc>
            </a:pPr>
            <a:endParaRPr lang="en-US" i="0" dirty="0">
              <a:latin typeface="Cambria" panose="02040503050406030204" pitchFamily="18" charset="0"/>
            </a:endParaRPr>
          </a:p>
        </p:txBody>
      </p:sp>
      <p:sp>
        <p:nvSpPr>
          <p:cNvPr id="9" name="object 2"/>
          <p:cNvSpPr txBox="1"/>
          <p:nvPr/>
        </p:nvSpPr>
        <p:spPr>
          <a:xfrm>
            <a:off x="8316416" y="5875020"/>
            <a:ext cx="233879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dirty="0">
                <a:solidFill>
                  <a:srgbClr val="FFFFFF"/>
                </a:solidFill>
                <a:latin typeface="Century Schoolbook"/>
                <a:cs typeface="Century Schoolbook"/>
              </a:rPr>
              <a:t>12</a:t>
            </a:r>
            <a:endParaRPr sz="1400" dirty="0">
              <a:latin typeface="Century Schoolbook"/>
              <a:cs typeface="Century Schoolbook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175" y="1196753"/>
            <a:ext cx="5581650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53450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0869" y="149859"/>
            <a:ext cx="7489523" cy="738664"/>
          </a:xfrm>
        </p:spPr>
        <p:txBody>
          <a:bodyPr/>
          <a:lstStyle/>
          <a:p>
            <a:r>
              <a:rPr lang="en-US" sz="2400" dirty="0">
                <a:latin typeface="Cambria" panose="02040503050406030204" pitchFamily="18" charset="0"/>
              </a:rPr>
              <a:t>Classification of Semiconductors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544" y="692697"/>
            <a:ext cx="7632848" cy="2160239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b="1" dirty="0">
                <a:latin typeface="Cambria" panose="02040503050406030204" pitchFamily="18" charset="0"/>
              </a:rPr>
              <a:t>Types of Semiconductor </a:t>
            </a: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en-US" dirty="0">
                <a:latin typeface="Cambria" panose="02040503050406030204" pitchFamily="18" charset="0"/>
              </a:rPr>
              <a:t>Intrinsic Semiconductor</a:t>
            </a: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en-US" dirty="0">
                <a:latin typeface="Cambria" panose="02040503050406030204" pitchFamily="18" charset="0"/>
              </a:rPr>
              <a:t>Extrinsic Semiconductor</a:t>
            </a:r>
          </a:p>
          <a:p>
            <a:pPr marL="1314450" lvl="2" indent="-400050">
              <a:lnSpc>
                <a:spcPct val="150000"/>
              </a:lnSpc>
              <a:buFont typeface="+mj-lt"/>
              <a:buAutoNum type="romanLcPeriod"/>
            </a:pPr>
            <a:r>
              <a:rPr lang="en-US" dirty="0">
                <a:latin typeface="Cambria" panose="02040503050406030204" pitchFamily="18" charset="0"/>
              </a:rPr>
              <a:t>P-type</a:t>
            </a:r>
          </a:p>
          <a:p>
            <a:pPr marL="1314450" lvl="2" indent="-400050">
              <a:lnSpc>
                <a:spcPct val="150000"/>
              </a:lnSpc>
              <a:buAutoNum type="romanLcPeriod"/>
            </a:pPr>
            <a:r>
              <a:rPr lang="en-US" dirty="0">
                <a:latin typeface="Cambria" panose="02040503050406030204" pitchFamily="18" charset="0"/>
              </a:rPr>
              <a:t>N-type</a:t>
            </a:r>
          </a:p>
          <a:p>
            <a:pPr>
              <a:lnSpc>
                <a:spcPct val="200000"/>
              </a:lnSpc>
            </a:pPr>
            <a:endParaRPr lang="en-US" i="0" dirty="0">
              <a:latin typeface="Cambria" panose="02040503050406030204" pitchFamily="18" charset="0"/>
            </a:endParaRPr>
          </a:p>
        </p:txBody>
      </p:sp>
      <p:sp>
        <p:nvSpPr>
          <p:cNvPr id="9" name="object 2"/>
          <p:cNvSpPr txBox="1"/>
          <p:nvPr/>
        </p:nvSpPr>
        <p:spPr>
          <a:xfrm>
            <a:off x="8316416" y="5875020"/>
            <a:ext cx="233879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dirty="0">
                <a:solidFill>
                  <a:srgbClr val="FFFFFF"/>
                </a:solidFill>
                <a:latin typeface="Century Schoolbook"/>
                <a:cs typeface="Century Schoolbook"/>
              </a:rPr>
              <a:t>13</a:t>
            </a:r>
            <a:endParaRPr sz="1400" dirty="0">
              <a:latin typeface="Century Schoolbook"/>
              <a:cs typeface="Century Schoolbook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1193" y="2995664"/>
            <a:ext cx="8119101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i="1" dirty="0">
                <a:latin typeface="Cambria" panose="02040503050406030204" pitchFamily="18" charset="0"/>
              </a:rPr>
              <a:t>Intrinsic Semiconductor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</a:rPr>
              <a:t>A pure semiconductor is called intrinsic semiconductor</a:t>
            </a:r>
            <a:r>
              <a:rPr lang="en-US" i="1" dirty="0">
                <a:latin typeface="Cambria" panose="020405030504060302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</a:rPr>
              <a:t>At room temperature, some of the valence electron acquire sufficient (thermal) energy to jump from VB-CB becoming free electrons (also called conduction electrons).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</a:rPr>
              <a:t>When an electron jumps to the CB, a vacancy left in the VB within the crystal. This is called a hole.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</a:rPr>
              <a:t>For every electron raised to the CB by external energy, there is one hole left in VB creating an electron hole pair.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9768" y="662186"/>
            <a:ext cx="3600450" cy="2622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93623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0869" y="149859"/>
            <a:ext cx="7489523" cy="369332"/>
          </a:xfrm>
        </p:spPr>
        <p:txBody>
          <a:bodyPr/>
          <a:lstStyle/>
          <a:p>
            <a:r>
              <a:rPr lang="en-US" sz="2400" dirty="0">
                <a:latin typeface="Cambria" panose="02040503050406030204" pitchFamily="18" charset="0"/>
              </a:rPr>
              <a:t>Extrinsic Semiconductor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544" y="692697"/>
            <a:ext cx="8280920" cy="2857129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i="0" dirty="0">
                <a:latin typeface="Cambria" panose="02040503050406030204" pitchFamily="18" charset="0"/>
              </a:rPr>
              <a:t>Semiconductor materials do not conduct well and are of limited value in their intrinsic state.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i="0" dirty="0">
                <a:latin typeface="Cambria" panose="02040503050406030204" pitchFamily="18" charset="0"/>
              </a:rPr>
              <a:t>This is because of the limited number of free electrons in the CB and holes in the VB.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i="0" dirty="0">
                <a:latin typeface="Cambria" panose="02040503050406030204" pitchFamily="18" charset="0"/>
              </a:rPr>
              <a:t>Hence intrinsic silicon must be modified by increasing the no. of free electrons or holes to increase its conductivity.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i="0" dirty="0">
                <a:latin typeface="Cambria" panose="02040503050406030204" pitchFamily="18" charset="0"/>
              </a:rPr>
              <a:t>This is done by adding impurities to the intrinsic material. </a:t>
            </a:r>
          </a:p>
        </p:txBody>
      </p:sp>
      <p:sp>
        <p:nvSpPr>
          <p:cNvPr id="9" name="object 2"/>
          <p:cNvSpPr txBox="1"/>
          <p:nvPr/>
        </p:nvSpPr>
        <p:spPr>
          <a:xfrm>
            <a:off x="8316416" y="5875020"/>
            <a:ext cx="233879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dirty="0">
                <a:solidFill>
                  <a:srgbClr val="FFFFFF"/>
                </a:solidFill>
                <a:latin typeface="Century Schoolbook"/>
                <a:cs typeface="Century Schoolbook"/>
              </a:rPr>
              <a:t>14</a:t>
            </a:r>
            <a:endParaRPr sz="1400" dirty="0">
              <a:latin typeface="Century Schoolbook"/>
              <a:cs typeface="Century Schoolbook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3528" y="3716962"/>
            <a:ext cx="8424936" cy="1668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i="1" dirty="0">
                <a:latin typeface="Cambria" panose="02040503050406030204" pitchFamily="18" charset="0"/>
              </a:rPr>
              <a:t>The conductivity of silicon and Germanium can be drastically increased by the controlled addition of impurities to the intrinsic semiconductor material. This process is called </a:t>
            </a:r>
            <a:r>
              <a:rPr lang="en-US" b="1" i="1" dirty="0">
                <a:latin typeface="Cambria" panose="02040503050406030204" pitchFamily="18" charset="0"/>
              </a:rPr>
              <a:t>doping.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3528" y="5394882"/>
            <a:ext cx="741682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i="1" dirty="0">
                <a:latin typeface="Cambria" panose="02040503050406030204" pitchFamily="18" charset="0"/>
              </a:rPr>
              <a:t>Two types of Extrinsic Semiconductor are </a:t>
            </a:r>
            <a:r>
              <a:rPr lang="en-US" b="1" i="1" dirty="0">
                <a:latin typeface="Cambria" panose="02040503050406030204" pitchFamily="18" charset="0"/>
              </a:rPr>
              <a:t>n-type and p-type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3678458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571472" y="785794"/>
            <a:ext cx="771530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dirty="0">
                <a:latin typeface="Times New Roman"/>
              </a:rPr>
              <a:t>.</a:t>
            </a:r>
          </a:p>
          <a:p>
            <a:pPr>
              <a:buFont typeface="Wingdings" pitchFamily="2" charset="2"/>
              <a:buChar char="Ø"/>
            </a:pP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428596" y="1714488"/>
            <a:ext cx="81439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600" dirty="0">
                <a:latin typeface="Monotype Corsiva" pitchFamily="66" charset="0"/>
              </a:rPr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694</TotalTime>
  <Words>1019</Words>
  <Application>Microsoft Office PowerPoint</Application>
  <PresentationFormat>On-screen Show (4:3)</PresentationFormat>
  <Paragraphs>171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Slide 1</vt:lpstr>
      <vt:lpstr>Atomic Structure:</vt:lpstr>
      <vt:lpstr>tiny particles - electrons Negatively charged particle have negligible mass</vt:lpstr>
      <vt:lpstr>Slide 4</vt:lpstr>
      <vt:lpstr>Slide 5</vt:lpstr>
      <vt:lpstr>Slide 6</vt:lpstr>
      <vt:lpstr>Slide 7</vt:lpstr>
      <vt:lpstr>Slide 8</vt:lpstr>
      <vt:lpstr>Slide 9</vt:lpstr>
      <vt:lpstr>Slide 10</vt:lpstr>
      <vt:lpstr>Semiconductor Materials </vt:lpstr>
      <vt:lpstr>Semiconductor Materials </vt:lpstr>
      <vt:lpstr>Classification of Semiconductors</vt:lpstr>
      <vt:lpstr>Extrinsic Semiconductor</vt:lpstr>
      <vt:lpstr>Slide 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Vignesh Balakrishnan</dc:creator>
  <cp:lastModifiedBy>Rathi</cp:lastModifiedBy>
  <cp:revision>69</cp:revision>
  <dcterms:created xsi:type="dcterms:W3CDTF">2020-07-02T07:13:27Z</dcterms:created>
  <dcterms:modified xsi:type="dcterms:W3CDTF">2024-12-16T16:44:03Z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2017-02-01T00:00:00Z</vt:filetime>
  </property>
  <property fmtid="{D5CDD505-2E9C-101B-9397-08002B2CF9AE}" pid="3" name="Creator">
    <vt:lpwstr>pdftk 1.44 - www.pdftk.com</vt:lpwstr>
  </property>
  <property fmtid="{D5CDD505-2E9C-101B-9397-08002B2CF9AE}" pid="4" name="LastSaved">
    <vt:filetime>2020-07-02T00:00:00Z</vt:filetime>
  </property>
</Properties>
</file>