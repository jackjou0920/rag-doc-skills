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0"/>
  </p:notesMasterIdLst>
  <p:sldIdLst>
    <p:sldId id="290" r:id="rId2"/>
    <p:sldId id="286" r:id="rId3"/>
    <p:sldId id="257" r:id="rId4"/>
    <p:sldId id="281" r:id="rId5"/>
    <p:sldId id="285" r:id="rId6"/>
    <p:sldId id="282" r:id="rId7"/>
    <p:sldId id="283" r:id="rId8"/>
    <p:sldId id="284" r:id="rId9"/>
    <p:sldId id="258" r:id="rId10"/>
    <p:sldId id="259" r:id="rId11"/>
    <p:sldId id="260" r:id="rId12"/>
    <p:sldId id="273" r:id="rId13"/>
    <p:sldId id="266" r:id="rId14"/>
    <p:sldId id="269" r:id="rId15"/>
    <p:sldId id="270" r:id="rId16"/>
    <p:sldId id="268" r:id="rId17"/>
    <p:sldId id="271" r:id="rId18"/>
    <p:sldId id="272" r:id="rId19"/>
    <p:sldId id="262" r:id="rId20"/>
    <p:sldId id="278" r:id="rId21"/>
    <p:sldId id="279" r:id="rId22"/>
    <p:sldId id="277" r:id="rId23"/>
    <p:sldId id="276" r:id="rId24"/>
    <p:sldId id="275" r:id="rId25"/>
    <p:sldId id="263" r:id="rId26"/>
    <p:sldId id="274" r:id="rId27"/>
    <p:sldId id="291" r:id="rId28"/>
    <p:sldId id="288"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224" autoAdjust="0"/>
  </p:normalViewPr>
  <p:slideViewPr>
    <p:cSldViewPr>
      <p:cViewPr varScale="1">
        <p:scale>
          <a:sx n="63" d="100"/>
          <a:sy n="63" d="100"/>
        </p:scale>
        <p:origin x="138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7B4905-6B11-4985-937A-A2E318AB82C6}" type="doc">
      <dgm:prSet loTypeId="urn:microsoft.com/office/officeart/2005/8/layout/hierarchy5" loCatId="hierarchy" qsTypeId="urn:microsoft.com/office/officeart/2005/8/quickstyle/simple1" qsCatId="simple" csTypeId="urn:microsoft.com/office/officeart/2005/8/colors/accent1_2" csCatId="accent1" phldr="1"/>
      <dgm:spPr/>
      <dgm:t>
        <a:bodyPr/>
        <a:lstStyle/>
        <a:p>
          <a:endParaRPr lang="en-US"/>
        </a:p>
      </dgm:t>
    </dgm:pt>
    <dgm:pt modelId="{DA7F8E8E-3BC8-46AB-B0B3-CD91DD59F278}">
      <dgm:prSet phldrT="[Text]"/>
      <dgm:spPr>
        <a:solidFill>
          <a:srgbClr val="00B050"/>
        </a:solidFill>
      </dgm:spPr>
      <dgm:t>
        <a:bodyPr/>
        <a:lstStyle/>
        <a:p>
          <a:r>
            <a:rPr lang="en-US" b="1" dirty="0" err="1">
              <a:solidFill>
                <a:schemeClr val="tx1"/>
              </a:solidFill>
            </a:rPr>
            <a:t>Semiconduktor</a:t>
          </a:r>
          <a:endParaRPr lang="en-US" b="1" dirty="0">
            <a:solidFill>
              <a:schemeClr val="tx1"/>
            </a:solidFill>
          </a:endParaRPr>
        </a:p>
      </dgm:t>
    </dgm:pt>
    <dgm:pt modelId="{324611AF-E2BA-4E58-9770-1F8C4EAD2BC1}" type="parTrans" cxnId="{9FBA5447-2FDF-4C46-9576-403E6B009D17}">
      <dgm:prSet/>
      <dgm:spPr/>
      <dgm:t>
        <a:bodyPr/>
        <a:lstStyle/>
        <a:p>
          <a:endParaRPr lang="en-US"/>
        </a:p>
      </dgm:t>
    </dgm:pt>
    <dgm:pt modelId="{59E8B932-CFEE-4A25-8044-548B66F9432C}" type="sibTrans" cxnId="{9FBA5447-2FDF-4C46-9576-403E6B009D17}">
      <dgm:prSet/>
      <dgm:spPr/>
      <dgm:t>
        <a:bodyPr/>
        <a:lstStyle/>
        <a:p>
          <a:endParaRPr lang="en-US"/>
        </a:p>
      </dgm:t>
    </dgm:pt>
    <dgm:pt modelId="{6BDFD8DE-1742-4FD2-92A3-B144D0F8165A}">
      <dgm:prSet phldrT="[Text]"/>
      <dgm:spPr>
        <a:solidFill>
          <a:srgbClr val="00B0F0"/>
        </a:solidFill>
      </dgm:spPr>
      <dgm:t>
        <a:bodyPr/>
        <a:lstStyle/>
        <a:p>
          <a:r>
            <a:rPr lang="en-US" dirty="0">
              <a:solidFill>
                <a:schemeClr val="tx1"/>
              </a:solidFill>
            </a:rPr>
            <a:t>Extrinsic</a:t>
          </a:r>
        </a:p>
      </dgm:t>
    </dgm:pt>
    <dgm:pt modelId="{D4F9024D-C591-42E6-B664-BB5299E563D1}" type="parTrans" cxnId="{F70BA94F-E9F9-4C6E-9C0D-01C305FFED41}">
      <dgm:prSet/>
      <dgm:spPr/>
      <dgm:t>
        <a:bodyPr/>
        <a:lstStyle/>
        <a:p>
          <a:endParaRPr lang="en-US"/>
        </a:p>
      </dgm:t>
    </dgm:pt>
    <dgm:pt modelId="{02E66F41-AA20-4682-A76B-B9479FB852C0}" type="sibTrans" cxnId="{F70BA94F-E9F9-4C6E-9C0D-01C305FFED41}">
      <dgm:prSet/>
      <dgm:spPr/>
      <dgm:t>
        <a:bodyPr/>
        <a:lstStyle/>
        <a:p>
          <a:endParaRPr lang="en-US"/>
        </a:p>
      </dgm:t>
    </dgm:pt>
    <dgm:pt modelId="{522D4C3D-9F0A-4B87-BE17-27FF3FE39D0F}">
      <dgm:prSet phldrT="[Text]"/>
      <dgm:spPr/>
      <dgm:t>
        <a:bodyPr/>
        <a:lstStyle/>
        <a:p>
          <a:r>
            <a:rPr lang="en-US" dirty="0">
              <a:solidFill>
                <a:schemeClr val="tx1"/>
              </a:solidFill>
            </a:rPr>
            <a:t>P- type material</a:t>
          </a:r>
        </a:p>
      </dgm:t>
    </dgm:pt>
    <dgm:pt modelId="{E0B69820-7F81-4D84-9E94-C2022038822F}" type="parTrans" cxnId="{2D002F8A-552C-4903-BD0A-C626CB315AB7}">
      <dgm:prSet/>
      <dgm:spPr/>
      <dgm:t>
        <a:bodyPr/>
        <a:lstStyle/>
        <a:p>
          <a:endParaRPr lang="en-US"/>
        </a:p>
      </dgm:t>
    </dgm:pt>
    <dgm:pt modelId="{DEE0B96B-D9DD-4CFA-8443-640B8227F229}" type="sibTrans" cxnId="{2D002F8A-552C-4903-BD0A-C626CB315AB7}">
      <dgm:prSet/>
      <dgm:spPr/>
      <dgm:t>
        <a:bodyPr/>
        <a:lstStyle/>
        <a:p>
          <a:endParaRPr lang="en-US"/>
        </a:p>
      </dgm:t>
    </dgm:pt>
    <dgm:pt modelId="{7E839F25-E151-410C-BE2C-A76C1AF7A34E}">
      <dgm:prSet phldrT="[Text]"/>
      <dgm:spPr/>
      <dgm:t>
        <a:bodyPr/>
        <a:lstStyle/>
        <a:p>
          <a:r>
            <a:rPr lang="en-US" dirty="0">
              <a:solidFill>
                <a:schemeClr val="tx1"/>
              </a:solidFill>
            </a:rPr>
            <a:t>Intrinsic</a:t>
          </a:r>
        </a:p>
      </dgm:t>
    </dgm:pt>
    <dgm:pt modelId="{A62CCCB5-C814-4FC9-B03A-6B99A0E82D84}" type="parTrans" cxnId="{5B3E17A6-9523-4D02-87A8-DDF3E8E96A2B}">
      <dgm:prSet/>
      <dgm:spPr/>
      <dgm:t>
        <a:bodyPr/>
        <a:lstStyle/>
        <a:p>
          <a:endParaRPr lang="en-US"/>
        </a:p>
      </dgm:t>
    </dgm:pt>
    <dgm:pt modelId="{D55DB3A5-EE15-48D5-B53C-3B772AAC618E}" type="sibTrans" cxnId="{5B3E17A6-9523-4D02-87A8-DDF3E8E96A2B}">
      <dgm:prSet/>
      <dgm:spPr/>
      <dgm:t>
        <a:bodyPr/>
        <a:lstStyle/>
        <a:p>
          <a:endParaRPr lang="en-US"/>
        </a:p>
      </dgm:t>
    </dgm:pt>
    <dgm:pt modelId="{350E89D5-0A3B-4C53-BA62-6B3BD598F331}">
      <dgm:prSet phldrT="[Text]" phldr="1"/>
      <dgm:spPr/>
      <dgm:t>
        <a:bodyPr/>
        <a:lstStyle/>
        <a:p>
          <a:endParaRPr lang="en-US" dirty="0"/>
        </a:p>
      </dgm:t>
    </dgm:pt>
    <dgm:pt modelId="{9522BEC2-B451-4F42-B940-CD29200D150C}" type="parTrans" cxnId="{45C0A28F-E293-4D6F-A2A8-ED025B3CF3EA}">
      <dgm:prSet/>
      <dgm:spPr/>
      <dgm:t>
        <a:bodyPr/>
        <a:lstStyle/>
        <a:p>
          <a:endParaRPr lang="en-US"/>
        </a:p>
      </dgm:t>
    </dgm:pt>
    <dgm:pt modelId="{08F1CC16-4EB0-41FD-8EE9-C6235F1B5721}" type="sibTrans" cxnId="{45C0A28F-E293-4D6F-A2A8-ED025B3CF3EA}">
      <dgm:prSet/>
      <dgm:spPr/>
      <dgm:t>
        <a:bodyPr/>
        <a:lstStyle/>
        <a:p>
          <a:endParaRPr lang="en-US"/>
        </a:p>
      </dgm:t>
    </dgm:pt>
    <dgm:pt modelId="{6776980F-84C8-4549-89E4-418EC9B6700A}">
      <dgm:prSet phldrT="[Text]" phldr="1"/>
      <dgm:spPr/>
      <dgm:t>
        <a:bodyPr/>
        <a:lstStyle/>
        <a:p>
          <a:endParaRPr lang="en-US"/>
        </a:p>
      </dgm:t>
    </dgm:pt>
    <dgm:pt modelId="{ECD825C1-1EA6-4240-9570-E3F5E5CA3664}" type="parTrans" cxnId="{E20D0A79-116C-482F-8E62-3C9F3194F611}">
      <dgm:prSet/>
      <dgm:spPr/>
      <dgm:t>
        <a:bodyPr/>
        <a:lstStyle/>
        <a:p>
          <a:endParaRPr lang="en-US"/>
        </a:p>
      </dgm:t>
    </dgm:pt>
    <dgm:pt modelId="{B4827B20-9E55-44F8-9287-8050BD414E0F}" type="sibTrans" cxnId="{E20D0A79-116C-482F-8E62-3C9F3194F611}">
      <dgm:prSet/>
      <dgm:spPr/>
      <dgm:t>
        <a:bodyPr/>
        <a:lstStyle/>
        <a:p>
          <a:endParaRPr lang="en-US"/>
        </a:p>
      </dgm:t>
    </dgm:pt>
    <dgm:pt modelId="{C291CDB0-256D-4291-8B22-B288B35EE137}">
      <dgm:prSet/>
      <dgm:spPr/>
      <dgm:t>
        <a:bodyPr/>
        <a:lstStyle/>
        <a:p>
          <a:r>
            <a:rPr lang="en-US" dirty="0">
              <a:solidFill>
                <a:schemeClr val="tx1"/>
              </a:solidFill>
            </a:rPr>
            <a:t>N-type material</a:t>
          </a:r>
        </a:p>
      </dgm:t>
    </dgm:pt>
    <dgm:pt modelId="{6AACE099-5AE4-4C85-925F-202538F5AEAA}" type="parTrans" cxnId="{D70FEFA7-EFB8-4973-8997-0A4CA7A5E7F9}">
      <dgm:prSet/>
      <dgm:spPr/>
      <dgm:t>
        <a:bodyPr/>
        <a:lstStyle/>
        <a:p>
          <a:endParaRPr lang="en-US"/>
        </a:p>
      </dgm:t>
    </dgm:pt>
    <dgm:pt modelId="{82DEF3C9-3FD6-4B25-A235-11F50E34337B}" type="sibTrans" cxnId="{D70FEFA7-EFB8-4973-8997-0A4CA7A5E7F9}">
      <dgm:prSet/>
      <dgm:spPr/>
      <dgm:t>
        <a:bodyPr/>
        <a:lstStyle/>
        <a:p>
          <a:endParaRPr lang="en-US"/>
        </a:p>
      </dgm:t>
    </dgm:pt>
    <dgm:pt modelId="{74637E23-9844-47DD-BBF6-E52C9D00AD03}">
      <dgm:prSet phldrT="[Text]" phldr="1"/>
      <dgm:spPr/>
      <dgm:t>
        <a:bodyPr/>
        <a:lstStyle/>
        <a:p>
          <a:endParaRPr lang="en-US" dirty="0"/>
        </a:p>
      </dgm:t>
    </dgm:pt>
    <dgm:pt modelId="{691C6007-F42B-43CA-91CF-A0E1CB1CE6D8}" type="sibTrans" cxnId="{13DBF3A0-7F9F-46B4-98C8-8F77B0200B32}">
      <dgm:prSet/>
      <dgm:spPr/>
      <dgm:t>
        <a:bodyPr/>
        <a:lstStyle/>
        <a:p>
          <a:endParaRPr lang="en-US"/>
        </a:p>
      </dgm:t>
    </dgm:pt>
    <dgm:pt modelId="{6DEA397F-089E-4201-A301-FA5D5E47A631}" type="parTrans" cxnId="{13DBF3A0-7F9F-46B4-98C8-8F77B0200B32}">
      <dgm:prSet/>
      <dgm:spPr/>
      <dgm:t>
        <a:bodyPr/>
        <a:lstStyle/>
        <a:p>
          <a:endParaRPr lang="en-US"/>
        </a:p>
      </dgm:t>
    </dgm:pt>
    <dgm:pt modelId="{0DDE9BBC-81A9-4B44-9AC9-17AA4B2E20AF}" type="pres">
      <dgm:prSet presAssocID="{E57B4905-6B11-4985-937A-A2E318AB82C6}" presName="mainComposite" presStyleCnt="0">
        <dgm:presLayoutVars>
          <dgm:chPref val="1"/>
          <dgm:dir/>
          <dgm:animOne val="branch"/>
          <dgm:animLvl val="lvl"/>
          <dgm:resizeHandles val="exact"/>
        </dgm:presLayoutVars>
      </dgm:prSet>
      <dgm:spPr/>
    </dgm:pt>
    <dgm:pt modelId="{E8B9E83A-1086-4A05-9FE5-0EC43973CC9F}" type="pres">
      <dgm:prSet presAssocID="{E57B4905-6B11-4985-937A-A2E318AB82C6}" presName="hierFlow" presStyleCnt="0"/>
      <dgm:spPr/>
    </dgm:pt>
    <dgm:pt modelId="{DAA126B7-A447-421D-B592-98AE3F022E35}" type="pres">
      <dgm:prSet presAssocID="{E57B4905-6B11-4985-937A-A2E318AB82C6}" presName="firstBuf" presStyleCnt="0"/>
      <dgm:spPr/>
    </dgm:pt>
    <dgm:pt modelId="{0A5FD682-3E1F-4505-8377-BF0D218BF0C7}" type="pres">
      <dgm:prSet presAssocID="{E57B4905-6B11-4985-937A-A2E318AB82C6}" presName="hierChild1" presStyleCnt="0">
        <dgm:presLayoutVars>
          <dgm:chPref val="1"/>
          <dgm:animOne val="branch"/>
          <dgm:animLvl val="lvl"/>
        </dgm:presLayoutVars>
      </dgm:prSet>
      <dgm:spPr/>
    </dgm:pt>
    <dgm:pt modelId="{010D0035-918E-4B02-A79B-01258182F36C}" type="pres">
      <dgm:prSet presAssocID="{DA7F8E8E-3BC8-46AB-B0B3-CD91DD59F278}" presName="Name17" presStyleCnt="0"/>
      <dgm:spPr/>
    </dgm:pt>
    <dgm:pt modelId="{E82A4DA3-12AE-44E0-B788-48624CA5773D}" type="pres">
      <dgm:prSet presAssocID="{DA7F8E8E-3BC8-46AB-B0B3-CD91DD59F278}" presName="level1Shape" presStyleLbl="node0" presStyleIdx="0" presStyleCnt="1" custLinFactY="-3224" custLinFactNeighborX="-3020" custLinFactNeighborY="-100000">
        <dgm:presLayoutVars>
          <dgm:chPref val="3"/>
        </dgm:presLayoutVars>
      </dgm:prSet>
      <dgm:spPr/>
    </dgm:pt>
    <dgm:pt modelId="{CFA7DA2C-2943-4B54-8C39-B17EDAFD1120}" type="pres">
      <dgm:prSet presAssocID="{DA7F8E8E-3BC8-46AB-B0B3-CD91DD59F278}" presName="hierChild2" presStyleCnt="0"/>
      <dgm:spPr/>
    </dgm:pt>
    <dgm:pt modelId="{6E66BA1D-7220-4E62-B70E-C82D8F49D9C1}" type="pres">
      <dgm:prSet presAssocID="{D4F9024D-C591-42E6-B664-BB5299E563D1}" presName="Name25" presStyleLbl="parChTrans1D2" presStyleIdx="0" presStyleCnt="2"/>
      <dgm:spPr/>
    </dgm:pt>
    <dgm:pt modelId="{A9F8088A-C894-46B2-82E5-F3A1EECD4B47}" type="pres">
      <dgm:prSet presAssocID="{D4F9024D-C591-42E6-B664-BB5299E563D1}" presName="connTx" presStyleLbl="parChTrans1D2" presStyleIdx="0" presStyleCnt="2"/>
      <dgm:spPr/>
    </dgm:pt>
    <dgm:pt modelId="{C827CB5B-ED2B-4051-ADB1-6B47397605BB}" type="pres">
      <dgm:prSet presAssocID="{6BDFD8DE-1742-4FD2-92A3-B144D0F8165A}" presName="Name30" presStyleCnt="0"/>
      <dgm:spPr/>
    </dgm:pt>
    <dgm:pt modelId="{5BB7E1B0-47B1-492E-B3D2-CF6EF891DC81}" type="pres">
      <dgm:prSet presAssocID="{6BDFD8DE-1742-4FD2-92A3-B144D0F8165A}" presName="level2Shape" presStyleLbl="node2" presStyleIdx="0" presStyleCnt="2" custLinFactY="-36554" custLinFactNeighborX="-3281" custLinFactNeighborY="-100000"/>
      <dgm:spPr/>
    </dgm:pt>
    <dgm:pt modelId="{8DDBEBDD-E85E-4787-A0F4-645FCC684E74}" type="pres">
      <dgm:prSet presAssocID="{6BDFD8DE-1742-4FD2-92A3-B144D0F8165A}" presName="hierChild3" presStyleCnt="0"/>
      <dgm:spPr/>
    </dgm:pt>
    <dgm:pt modelId="{153037D6-D8B5-4FA9-B443-AEF6ED3F1C12}" type="pres">
      <dgm:prSet presAssocID="{E0B69820-7F81-4D84-9E94-C2022038822F}" presName="Name25" presStyleLbl="parChTrans1D3" presStyleIdx="0" presStyleCnt="2"/>
      <dgm:spPr/>
    </dgm:pt>
    <dgm:pt modelId="{5A816687-BE38-4393-8172-0E2805D16097}" type="pres">
      <dgm:prSet presAssocID="{E0B69820-7F81-4D84-9E94-C2022038822F}" presName="connTx" presStyleLbl="parChTrans1D3" presStyleIdx="0" presStyleCnt="2"/>
      <dgm:spPr/>
    </dgm:pt>
    <dgm:pt modelId="{35121717-582A-4D08-A052-62E7B8DDB13B}" type="pres">
      <dgm:prSet presAssocID="{522D4C3D-9F0A-4B87-BE17-27FF3FE39D0F}" presName="Name30" presStyleCnt="0"/>
      <dgm:spPr/>
    </dgm:pt>
    <dgm:pt modelId="{D6D01AD7-A044-448F-9730-4CB470A4FEE4}" type="pres">
      <dgm:prSet presAssocID="{522D4C3D-9F0A-4B87-BE17-27FF3FE39D0F}" presName="level2Shape" presStyleLbl="node3" presStyleIdx="0" presStyleCnt="2" custLinFactNeighborX="-3542" custLinFactNeighborY="-51106"/>
      <dgm:spPr/>
    </dgm:pt>
    <dgm:pt modelId="{40BF3207-1894-4C23-8D53-0269B838E15B}" type="pres">
      <dgm:prSet presAssocID="{522D4C3D-9F0A-4B87-BE17-27FF3FE39D0F}" presName="hierChild3" presStyleCnt="0"/>
      <dgm:spPr/>
    </dgm:pt>
    <dgm:pt modelId="{4EE273B4-9D5D-4A87-899D-0DA765E014F0}" type="pres">
      <dgm:prSet presAssocID="{6AACE099-5AE4-4C85-925F-202538F5AEAA}" presName="Name25" presStyleLbl="parChTrans1D3" presStyleIdx="1" presStyleCnt="2"/>
      <dgm:spPr/>
    </dgm:pt>
    <dgm:pt modelId="{C4043BDB-8806-4E19-A3EE-4FFC5789A1ED}" type="pres">
      <dgm:prSet presAssocID="{6AACE099-5AE4-4C85-925F-202538F5AEAA}" presName="connTx" presStyleLbl="parChTrans1D3" presStyleIdx="1" presStyleCnt="2"/>
      <dgm:spPr/>
    </dgm:pt>
    <dgm:pt modelId="{C71693B2-C1EF-4DEA-AE8B-DB8FDB3D80D7}" type="pres">
      <dgm:prSet presAssocID="{C291CDB0-256D-4291-8B22-B288B35EE137}" presName="Name30" presStyleCnt="0"/>
      <dgm:spPr/>
    </dgm:pt>
    <dgm:pt modelId="{72B51D5E-05B2-4FD8-B59E-C2A1E2AD418A}" type="pres">
      <dgm:prSet presAssocID="{C291CDB0-256D-4291-8B22-B288B35EE137}" presName="level2Shape" presStyleLbl="node3" presStyleIdx="1" presStyleCnt="2"/>
      <dgm:spPr/>
    </dgm:pt>
    <dgm:pt modelId="{7F3A8F94-D835-403A-B620-5B810ED1BC3B}" type="pres">
      <dgm:prSet presAssocID="{C291CDB0-256D-4291-8B22-B288B35EE137}" presName="hierChild3" presStyleCnt="0"/>
      <dgm:spPr/>
    </dgm:pt>
    <dgm:pt modelId="{C8F21BE3-8D7C-4B50-84BC-60E42C9701B4}" type="pres">
      <dgm:prSet presAssocID="{A62CCCB5-C814-4FC9-B03A-6B99A0E82D84}" presName="Name25" presStyleLbl="parChTrans1D2" presStyleIdx="1" presStyleCnt="2"/>
      <dgm:spPr/>
    </dgm:pt>
    <dgm:pt modelId="{0BEFFB57-6E76-46D6-8AC0-D7FC77F94987}" type="pres">
      <dgm:prSet presAssocID="{A62CCCB5-C814-4FC9-B03A-6B99A0E82D84}" presName="connTx" presStyleLbl="parChTrans1D2" presStyleIdx="1" presStyleCnt="2"/>
      <dgm:spPr/>
    </dgm:pt>
    <dgm:pt modelId="{14BA7E78-D5D5-4BEC-99F0-847C7890B1BF}" type="pres">
      <dgm:prSet presAssocID="{7E839F25-E151-410C-BE2C-A76C1AF7A34E}" presName="Name30" presStyleCnt="0"/>
      <dgm:spPr/>
    </dgm:pt>
    <dgm:pt modelId="{4DA76496-6D5D-428C-9E5B-F8DC53DD7F0F}" type="pres">
      <dgm:prSet presAssocID="{7E839F25-E151-410C-BE2C-A76C1AF7A34E}" presName="level2Shape" presStyleLbl="node2" presStyleIdx="1" presStyleCnt="2" custLinFactNeighborX="-3281" custLinFactNeighborY="-83867"/>
      <dgm:spPr/>
    </dgm:pt>
    <dgm:pt modelId="{6232497C-94C9-4F6F-AEDD-34020799A522}" type="pres">
      <dgm:prSet presAssocID="{7E839F25-E151-410C-BE2C-A76C1AF7A34E}" presName="hierChild3" presStyleCnt="0"/>
      <dgm:spPr/>
    </dgm:pt>
    <dgm:pt modelId="{1053E14C-B70B-415C-B0A0-9280A56656F3}" type="pres">
      <dgm:prSet presAssocID="{E57B4905-6B11-4985-937A-A2E318AB82C6}" presName="bgShapesFlow" presStyleCnt="0"/>
      <dgm:spPr/>
    </dgm:pt>
    <dgm:pt modelId="{933A4E7D-B71C-4B50-A6DD-F56A3CE075CB}" type="pres">
      <dgm:prSet presAssocID="{74637E23-9844-47DD-BBF6-E52C9D00AD03}" presName="rectComp" presStyleCnt="0"/>
      <dgm:spPr/>
    </dgm:pt>
    <dgm:pt modelId="{6B720D42-1889-4F29-9916-00E0982C7CA5}" type="pres">
      <dgm:prSet presAssocID="{74637E23-9844-47DD-BBF6-E52C9D00AD03}" presName="bgRect" presStyleLbl="bgShp" presStyleIdx="0" presStyleCnt="3" custLinFactX="165683" custLinFactNeighborX="200000" custLinFactNeighborY="7752"/>
      <dgm:spPr/>
    </dgm:pt>
    <dgm:pt modelId="{2538B2D4-5C6E-4162-8503-17C27E673D7C}" type="pres">
      <dgm:prSet presAssocID="{74637E23-9844-47DD-BBF6-E52C9D00AD03}" presName="bgRectTx" presStyleLbl="bgShp" presStyleIdx="0" presStyleCnt="3">
        <dgm:presLayoutVars>
          <dgm:bulletEnabled val="1"/>
        </dgm:presLayoutVars>
      </dgm:prSet>
      <dgm:spPr/>
    </dgm:pt>
    <dgm:pt modelId="{E3F61102-5D12-470E-BBF5-23EDA3B6FB8D}" type="pres">
      <dgm:prSet presAssocID="{74637E23-9844-47DD-BBF6-E52C9D00AD03}" presName="spComp" presStyleCnt="0"/>
      <dgm:spPr/>
    </dgm:pt>
    <dgm:pt modelId="{CF6F2A7F-46B6-4980-8C5C-3AAFEC26ADC5}" type="pres">
      <dgm:prSet presAssocID="{74637E23-9844-47DD-BBF6-E52C9D00AD03}" presName="hSp" presStyleCnt="0"/>
      <dgm:spPr/>
    </dgm:pt>
    <dgm:pt modelId="{4FC287C9-9DEB-4819-B5BD-755897370C90}" type="pres">
      <dgm:prSet presAssocID="{350E89D5-0A3B-4C53-BA62-6B3BD598F331}" presName="rectComp" presStyleCnt="0"/>
      <dgm:spPr/>
    </dgm:pt>
    <dgm:pt modelId="{FA0C9002-2F98-4931-8471-13975676F36F}" type="pres">
      <dgm:prSet presAssocID="{350E89D5-0A3B-4C53-BA62-6B3BD598F331}" presName="bgRect" presStyleLbl="bgShp" presStyleIdx="1" presStyleCnt="3" custLinFactX="100000" custLinFactNeighborX="172339" custLinFactNeighborY="86882"/>
      <dgm:spPr/>
    </dgm:pt>
    <dgm:pt modelId="{3B5AF0D2-1DCC-4B68-8DDC-4A1D82391A0E}" type="pres">
      <dgm:prSet presAssocID="{350E89D5-0A3B-4C53-BA62-6B3BD598F331}" presName="bgRectTx" presStyleLbl="bgShp" presStyleIdx="1" presStyleCnt="3">
        <dgm:presLayoutVars>
          <dgm:bulletEnabled val="1"/>
        </dgm:presLayoutVars>
      </dgm:prSet>
      <dgm:spPr/>
    </dgm:pt>
    <dgm:pt modelId="{C9A4490B-B1E7-4C32-ACE0-3B1C1A01F058}" type="pres">
      <dgm:prSet presAssocID="{350E89D5-0A3B-4C53-BA62-6B3BD598F331}" presName="spComp" presStyleCnt="0"/>
      <dgm:spPr/>
    </dgm:pt>
    <dgm:pt modelId="{8B157B04-9924-448F-9E17-B03DF06BE13D}" type="pres">
      <dgm:prSet presAssocID="{350E89D5-0A3B-4C53-BA62-6B3BD598F331}" presName="hSp" presStyleCnt="0"/>
      <dgm:spPr/>
    </dgm:pt>
    <dgm:pt modelId="{2F3B9CF7-7EB3-4DD0-9C07-378F8E1B0A10}" type="pres">
      <dgm:prSet presAssocID="{6776980F-84C8-4549-89E4-418EC9B6700A}" presName="rectComp" presStyleCnt="0"/>
      <dgm:spPr/>
    </dgm:pt>
    <dgm:pt modelId="{E733B09B-BE85-44C3-B3F5-08FE2A14F720}" type="pres">
      <dgm:prSet presAssocID="{6776980F-84C8-4549-89E4-418EC9B6700A}" presName="bgRect" presStyleLbl="bgShp" presStyleIdx="2" presStyleCnt="3" custLinFactNeighborX="5857" custLinFactNeighborY="1017"/>
      <dgm:spPr/>
    </dgm:pt>
    <dgm:pt modelId="{39909682-22AE-485C-9A11-81F624FB67FE}" type="pres">
      <dgm:prSet presAssocID="{6776980F-84C8-4549-89E4-418EC9B6700A}" presName="bgRectTx" presStyleLbl="bgShp" presStyleIdx="2" presStyleCnt="3">
        <dgm:presLayoutVars>
          <dgm:bulletEnabled val="1"/>
        </dgm:presLayoutVars>
      </dgm:prSet>
      <dgm:spPr/>
    </dgm:pt>
  </dgm:ptLst>
  <dgm:cxnLst>
    <dgm:cxn modelId="{4607AF17-21EF-4314-8673-468B4EA5FB0F}" type="presOf" srcId="{350E89D5-0A3B-4C53-BA62-6B3BD598F331}" destId="{3B5AF0D2-1DCC-4B68-8DDC-4A1D82391A0E}" srcOrd="1" destOrd="0" presId="urn:microsoft.com/office/officeart/2005/8/layout/hierarchy5"/>
    <dgm:cxn modelId="{2E7B621B-27B4-47EE-94F8-E65D268D8E67}" type="presOf" srcId="{DA7F8E8E-3BC8-46AB-B0B3-CD91DD59F278}" destId="{E82A4DA3-12AE-44E0-B788-48624CA5773D}" srcOrd="0" destOrd="0" presId="urn:microsoft.com/office/officeart/2005/8/layout/hierarchy5"/>
    <dgm:cxn modelId="{1F9E481C-29CF-4C9C-8438-43549766A8F6}" type="presOf" srcId="{E57B4905-6B11-4985-937A-A2E318AB82C6}" destId="{0DDE9BBC-81A9-4B44-9AC9-17AA4B2E20AF}" srcOrd="0" destOrd="0" presId="urn:microsoft.com/office/officeart/2005/8/layout/hierarchy5"/>
    <dgm:cxn modelId="{4F4E4E2D-7D65-477B-A8AA-815F84DF89E5}" type="presOf" srcId="{74637E23-9844-47DD-BBF6-E52C9D00AD03}" destId="{2538B2D4-5C6E-4162-8503-17C27E673D7C}" srcOrd="1" destOrd="0" presId="urn:microsoft.com/office/officeart/2005/8/layout/hierarchy5"/>
    <dgm:cxn modelId="{37E4F82F-37E6-4E97-9627-E86DC7669161}" type="presOf" srcId="{74637E23-9844-47DD-BBF6-E52C9D00AD03}" destId="{6B720D42-1889-4F29-9916-00E0982C7CA5}" srcOrd="0" destOrd="0" presId="urn:microsoft.com/office/officeart/2005/8/layout/hierarchy5"/>
    <dgm:cxn modelId="{AC5E0B38-73B4-4DD0-8153-ADE0B012AA95}" type="presOf" srcId="{6776980F-84C8-4549-89E4-418EC9B6700A}" destId="{39909682-22AE-485C-9A11-81F624FB67FE}" srcOrd="1" destOrd="0" presId="urn:microsoft.com/office/officeart/2005/8/layout/hierarchy5"/>
    <dgm:cxn modelId="{A16F0442-C321-4915-896D-417A25682A95}" type="presOf" srcId="{D4F9024D-C591-42E6-B664-BB5299E563D1}" destId="{A9F8088A-C894-46B2-82E5-F3A1EECD4B47}" srcOrd="1" destOrd="0" presId="urn:microsoft.com/office/officeart/2005/8/layout/hierarchy5"/>
    <dgm:cxn modelId="{9FBA5447-2FDF-4C46-9576-403E6B009D17}" srcId="{E57B4905-6B11-4985-937A-A2E318AB82C6}" destId="{DA7F8E8E-3BC8-46AB-B0B3-CD91DD59F278}" srcOrd="0" destOrd="0" parTransId="{324611AF-E2BA-4E58-9770-1F8C4EAD2BC1}" sibTransId="{59E8B932-CFEE-4A25-8044-548B66F9432C}"/>
    <dgm:cxn modelId="{329FDD6A-D737-4471-B2EE-D33113CE5000}" type="presOf" srcId="{6AACE099-5AE4-4C85-925F-202538F5AEAA}" destId="{4EE273B4-9D5D-4A87-899D-0DA765E014F0}" srcOrd="0" destOrd="0" presId="urn:microsoft.com/office/officeart/2005/8/layout/hierarchy5"/>
    <dgm:cxn modelId="{576F2D4E-EF6C-4C73-949F-8D9ABEF9E51D}" type="presOf" srcId="{A62CCCB5-C814-4FC9-B03A-6B99A0E82D84}" destId="{0BEFFB57-6E76-46D6-8AC0-D7FC77F94987}" srcOrd="1" destOrd="0" presId="urn:microsoft.com/office/officeart/2005/8/layout/hierarchy5"/>
    <dgm:cxn modelId="{F70BA94F-E9F9-4C6E-9C0D-01C305FFED41}" srcId="{DA7F8E8E-3BC8-46AB-B0B3-CD91DD59F278}" destId="{6BDFD8DE-1742-4FD2-92A3-B144D0F8165A}" srcOrd="0" destOrd="0" parTransId="{D4F9024D-C591-42E6-B664-BB5299E563D1}" sibTransId="{02E66F41-AA20-4682-A76B-B9479FB852C0}"/>
    <dgm:cxn modelId="{E20D0A79-116C-482F-8E62-3C9F3194F611}" srcId="{E57B4905-6B11-4985-937A-A2E318AB82C6}" destId="{6776980F-84C8-4549-89E4-418EC9B6700A}" srcOrd="3" destOrd="0" parTransId="{ECD825C1-1EA6-4240-9570-E3F5E5CA3664}" sibTransId="{B4827B20-9E55-44F8-9287-8050BD414E0F}"/>
    <dgm:cxn modelId="{8BF31E89-531B-4A18-BE22-BB98C9C5DBA2}" type="presOf" srcId="{6AACE099-5AE4-4C85-925F-202538F5AEAA}" destId="{C4043BDB-8806-4E19-A3EE-4FFC5789A1ED}" srcOrd="1" destOrd="0" presId="urn:microsoft.com/office/officeart/2005/8/layout/hierarchy5"/>
    <dgm:cxn modelId="{2D002F8A-552C-4903-BD0A-C626CB315AB7}" srcId="{6BDFD8DE-1742-4FD2-92A3-B144D0F8165A}" destId="{522D4C3D-9F0A-4B87-BE17-27FF3FE39D0F}" srcOrd="0" destOrd="0" parTransId="{E0B69820-7F81-4D84-9E94-C2022038822F}" sibTransId="{DEE0B96B-D9DD-4CFA-8443-640B8227F229}"/>
    <dgm:cxn modelId="{0B252B8D-FBA9-4ACA-B545-A11504979191}" type="presOf" srcId="{E0B69820-7F81-4D84-9E94-C2022038822F}" destId="{5A816687-BE38-4393-8172-0E2805D16097}" srcOrd="1" destOrd="0" presId="urn:microsoft.com/office/officeart/2005/8/layout/hierarchy5"/>
    <dgm:cxn modelId="{45C0A28F-E293-4D6F-A2A8-ED025B3CF3EA}" srcId="{E57B4905-6B11-4985-937A-A2E318AB82C6}" destId="{350E89D5-0A3B-4C53-BA62-6B3BD598F331}" srcOrd="2" destOrd="0" parTransId="{9522BEC2-B451-4F42-B940-CD29200D150C}" sibTransId="{08F1CC16-4EB0-41FD-8EE9-C6235F1B5721}"/>
    <dgm:cxn modelId="{F67ED39A-4FA6-4EBB-88FA-537EE4DE5902}" type="presOf" srcId="{6776980F-84C8-4549-89E4-418EC9B6700A}" destId="{E733B09B-BE85-44C3-B3F5-08FE2A14F720}" srcOrd="0" destOrd="0" presId="urn:microsoft.com/office/officeart/2005/8/layout/hierarchy5"/>
    <dgm:cxn modelId="{13DBF3A0-7F9F-46B4-98C8-8F77B0200B32}" srcId="{E57B4905-6B11-4985-937A-A2E318AB82C6}" destId="{74637E23-9844-47DD-BBF6-E52C9D00AD03}" srcOrd="1" destOrd="0" parTransId="{6DEA397F-089E-4201-A301-FA5D5E47A631}" sibTransId="{691C6007-F42B-43CA-91CF-A0E1CB1CE6D8}"/>
    <dgm:cxn modelId="{5B3E17A6-9523-4D02-87A8-DDF3E8E96A2B}" srcId="{DA7F8E8E-3BC8-46AB-B0B3-CD91DD59F278}" destId="{7E839F25-E151-410C-BE2C-A76C1AF7A34E}" srcOrd="1" destOrd="0" parTransId="{A62CCCB5-C814-4FC9-B03A-6B99A0E82D84}" sibTransId="{D55DB3A5-EE15-48D5-B53C-3B772AAC618E}"/>
    <dgm:cxn modelId="{D70FEFA7-EFB8-4973-8997-0A4CA7A5E7F9}" srcId="{6BDFD8DE-1742-4FD2-92A3-B144D0F8165A}" destId="{C291CDB0-256D-4291-8B22-B288B35EE137}" srcOrd="1" destOrd="0" parTransId="{6AACE099-5AE4-4C85-925F-202538F5AEAA}" sibTransId="{82DEF3C9-3FD6-4B25-A235-11F50E34337B}"/>
    <dgm:cxn modelId="{221019C3-5D81-4283-A1EE-99AA560F55A4}" type="presOf" srcId="{A62CCCB5-C814-4FC9-B03A-6B99A0E82D84}" destId="{C8F21BE3-8D7C-4B50-84BC-60E42C9701B4}" srcOrd="0" destOrd="0" presId="urn:microsoft.com/office/officeart/2005/8/layout/hierarchy5"/>
    <dgm:cxn modelId="{C35CE6C3-D58F-41AA-8F18-8C1582321C6A}" type="presOf" srcId="{7E839F25-E151-410C-BE2C-A76C1AF7A34E}" destId="{4DA76496-6D5D-428C-9E5B-F8DC53DD7F0F}" srcOrd="0" destOrd="0" presId="urn:microsoft.com/office/officeart/2005/8/layout/hierarchy5"/>
    <dgm:cxn modelId="{265346CE-E98B-45F8-9180-19C4F701C8BB}" type="presOf" srcId="{C291CDB0-256D-4291-8B22-B288B35EE137}" destId="{72B51D5E-05B2-4FD8-B59E-C2A1E2AD418A}" srcOrd="0" destOrd="0" presId="urn:microsoft.com/office/officeart/2005/8/layout/hierarchy5"/>
    <dgm:cxn modelId="{7F5A5CD7-9B78-4DB6-8579-2F1DF3631ACE}" type="presOf" srcId="{350E89D5-0A3B-4C53-BA62-6B3BD598F331}" destId="{FA0C9002-2F98-4931-8471-13975676F36F}" srcOrd="0" destOrd="0" presId="urn:microsoft.com/office/officeart/2005/8/layout/hierarchy5"/>
    <dgm:cxn modelId="{A5D30DEF-E4C3-4AE0-8A8D-9788E663BB0A}" type="presOf" srcId="{6BDFD8DE-1742-4FD2-92A3-B144D0F8165A}" destId="{5BB7E1B0-47B1-492E-B3D2-CF6EF891DC81}" srcOrd="0" destOrd="0" presId="urn:microsoft.com/office/officeart/2005/8/layout/hierarchy5"/>
    <dgm:cxn modelId="{6F7E6FF1-7BA0-4A8F-89DA-8AEE348FB8F3}" type="presOf" srcId="{E0B69820-7F81-4D84-9E94-C2022038822F}" destId="{153037D6-D8B5-4FA9-B443-AEF6ED3F1C12}" srcOrd="0" destOrd="0" presId="urn:microsoft.com/office/officeart/2005/8/layout/hierarchy5"/>
    <dgm:cxn modelId="{657B88F9-23B4-424F-9112-C781389614EA}" type="presOf" srcId="{D4F9024D-C591-42E6-B664-BB5299E563D1}" destId="{6E66BA1D-7220-4E62-B70E-C82D8F49D9C1}" srcOrd="0" destOrd="0" presId="urn:microsoft.com/office/officeart/2005/8/layout/hierarchy5"/>
    <dgm:cxn modelId="{6C49F1FC-6276-4E5F-B522-190DFFF8F2CD}" type="presOf" srcId="{522D4C3D-9F0A-4B87-BE17-27FF3FE39D0F}" destId="{D6D01AD7-A044-448F-9730-4CB470A4FEE4}" srcOrd="0" destOrd="0" presId="urn:microsoft.com/office/officeart/2005/8/layout/hierarchy5"/>
    <dgm:cxn modelId="{7576BB07-0B6B-4C73-B86A-AF739EF3E95D}" type="presParOf" srcId="{0DDE9BBC-81A9-4B44-9AC9-17AA4B2E20AF}" destId="{E8B9E83A-1086-4A05-9FE5-0EC43973CC9F}" srcOrd="0" destOrd="0" presId="urn:microsoft.com/office/officeart/2005/8/layout/hierarchy5"/>
    <dgm:cxn modelId="{6A6FFAFD-BE94-464C-8B49-500E1CFBCE59}" type="presParOf" srcId="{E8B9E83A-1086-4A05-9FE5-0EC43973CC9F}" destId="{DAA126B7-A447-421D-B592-98AE3F022E35}" srcOrd="0" destOrd="0" presId="urn:microsoft.com/office/officeart/2005/8/layout/hierarchy5"/>
    <dgm:cxn modelId="{836744EF-B073-4E96-BCE3-2485A151C91C}" type="presParOf" srcId="{E8B9E83A-1086-4A05-9FE5-0EC43973CC9F}" destId="{0A5FD682-3E1F-4505-8377-BF0D218BF0C7}" srcOrd="1" destOrd="0" presId="urn:microsoft.com/office/officeart/2005/8/layout/hierarchy5"/>
    <dgm:cxn modelId="{558CECA8-ACA8-4204-885D-A076479AD83A}" type="presParOf" srcId="{0A5FD682-3E1F-4505-8377-BF0D218BF0C7}" destId="{010D0035-918E-4B02-A79B-01258182F36C}" srcOrd="0" destOrd="0" presId="urn:microsoft.com/office/officeart/2005/8/layout/hierarchy5"/>
    <dgm:cxn modelId="{786D4F8A-941F-4755-90E2-8577D9587DDE}" type="presParOf" srcId="{010D0035-918E-4B02-A79B-01258182F36C}" destId="{E82A4DA3-12AE-44E0-B788-48624CA5773D}" srcOrd="0" destOrd="0" presId="urn:microsoft.com/office/officeart/2005/8/layout/hierarchy5"/>
    <dgm:cxn modelId="{592322AF-DFCF-42AF-A339-65417E5E73E3}" type="presParOf" srcId="{010D0035-918E-4B02-A79B-01258182F36C}" destId="{CFA7DA2C-2943-4B54-8C39-B17EDAFD1120}" srcOrd="1" destOrd="0" presId="urn:microsoft.com/office/officeart/2005/8/layout/hierarchy5"/>
    <dgm:cxn modelId="{6C836CB9-E9A4-467D-A140-CAF43CF6B7A5}" type="presParOf" srcId="{CFA7DA2C-2943-4B54-8C39-B17EDAFD1120}" destId="{6E66BA1D-7220-4E62-B70E-C82D8F49D9C1}" srcOrd="0" destOrd="0" presId="urn:microsoft.com/office/officeart/2005/8/layout/hierarchy5"/>
    <dgm:cxn modelId="{9B65FBAD-84A6-474A-9A53-7FE711876559}" type="presParOf" srcId="{6E66BA1D-7220-4E62-B70E-C82D8F49D9C1}" destId="{A9F8088A-C894-46B2-82E5-F3A1EECD4B47}" srcOrd="0" destOrd="0" presId="urn:microsoft.com/office/officeart/2005/8/layout/hierarchy5"/>
    <dgm:cxn modelId="{FDE95AED-14C3-403A-A74D-B2AB7E8D4048}" type="presParOf" srcId="{CFA7DA2C-2943-4B54-8C39-B17EDAFD1120}" destId="{C827CB5B-ED2B-4051-ADB1-6B47397605BB}" srcOrd="1" destOrd="0" presId="urn:microsoft.com/office/officeart/2005/8/layout/hierarchy5"/>
    <dgm:cxn modelId="{F1502F50-3AED-42AB-8B97-0D1F329C4784}" type="presParOf" srcId="{C827CB5B-ED2B-4051-ADB1-6B47397605BB}" destId="{5BB7E1B0-47B1-492E-B3D2-CF6EF891DC81}" srcOrd="0" destOrd="0" presId="urn:microsoft.com/office/officeart/2005/8/layout/hierarchy5"/>
    <dgm:cxn modelId="{02F4947D-831C-45EA-86AF-755AF4C2080E}" type="presParOf" srcId="{C827CB5B-ED2B-4051-ADB1-6B47397605BB}" destId="{8DDBEBDD-E85E-4787-A0F4-645FCC684E74}" srcOrd="1" destOrd="0" presId="urn:microsoft.com/office/officeart/2005/8/layout/hierarchy5"/>
    <dgm:cxn modelId="{9EE2DA10-26ED-452A-AA6C-99DD99313D17}" type="presParOf" srcId="{8DDBEBDD-E85E-4787-A0F4-645FCC684E74}" destId="{153037D6-D8B5-4FA9-B443-AEF6ED3F1C12}" srcOrd="0" destOrd="0" presId="urn:microsoft.com/office/officeart/2005/8/layout/hierarchy5"/>
    <dgm:cxn modelId="{1491CD86-8E9A-4DB6-BDA4-CDE304381061}" type="presParOf" srcId="{153037D6-D8B5-4FA9-B443-AEF6ED3F1C12}" destId="{5A816687-BE38-4393-8172-0E2805D16097}" srcOrd="0" destOrd="0" presId="urn:microsoft.com/office/officeart/2005/8/layout/hierarchy5"/>
    <dgm:cxn modelId="{02705473-9EC0-4498-A6B2-3918E17F7744}" type="presParOf" srcId="{8DDBEBDD-E85E-4787-A0F4-645FCC684E74}" destId="{35121717-582A-4D08-A052-62E7B8DDB13B}" srcOrd="1" destOrd="0" presId="urn:microsoft.com/office/officeart/2005/8/layout/hierarchy5"/>
    <dgm:cxn modelId="{7B088BA8-F4A8-46A1-9F78-73A013A72376}" type="presParOf" srcId="{35121717-582A-4D08-A052-62E7B8DDB13B}" destId="{D6D01AD7-A044-448F-9730-4CB470A4FEE4}" srcOrd="0" destOrd="0" presId="urn:microsoft.com/office/officeart/2005/8/layout/hierarchy5"/>
    <dgm:cxn modelId="{C09BAA7E-89EA-4452-8B40-69D82B2C4FBD}" type="presParOf" srcId="{35121717-582A-4D08-A052-62E7B8DDB13B}" destId="{40BF3207-1894-4C23-8D53-0269B838E15B}" srcOrd="1" destOrd="0" presId="urn:microsoft.com/office/officeart/2005/8/layout/hierarchy5"/>
    <dgm:cxn modelId="{6120B1B1-2AC3-408D-A9A2-861577528C1C}" type="presParOf" srcId="{8DDBEBDD-E85E-4787-A0F4-645FCC684E74}" destId="{4EE273B4-9D5D-4A87-899D-0DA765E014F0}" srcOrd="2" destOrd="0" presId="urn:microsoft.com/office/officeart/2005/8/layout/hierarchy5"/>
    <dgm:cxn modelId="{31D78B7D-AA30-4CC0-86FE-67AC76B69032}" type="presParOf" srcId="{4EE273B4-9D5D-4A87-899D-0DA765E014F0}" destId="{C4043BDB-8806-4E19-A3EE-4FFC5789A1ED}" srcOrd="0" destOrd="0" presId="urn:microsoft.com/office/officeart/2005/8/layout/hierarchy5"/>
    <dgm:cxn modelId="{E2AEE976-8197-49EE-9CE1-50D0C91560E1}" type="presParOf" srcId="{8DDBEBDD-E85E-4787-A0F4-645FCC684E74}" destId="{C71693B2-C1EF-4DEA-AE8B-DB8FDB3D80D7}" srcOrd="3" destOrd="0" presId="urn:microsoft.com/office/officeart/2005/8/layout/hierarchy5"/>
    <dgm:cxn modelId="{439082C5-F735-49DD-ADAC-3FCB26BA6D8F}" type="presParOf" srcId="{C71693B2-C1EF-4DEA-AE8B-DB8FDB3D80D7}" destId="{72B51D5E-05B2-4FD8-B59E-C2A1E2AD418A}" srcOrd="0" destOrd="0" presId="urn:microsoft.com/office/officeart/2005/8/layout/hierarchy5"/>
    <dgm:cxn modelId="{B9A5983C-1472-459D-A384-78FE90189601}" type="presParOf" srcId="{C71693B2-C1EF-4DEA-AE8B-DB8FDB3D80D7}" destId="{7F3A8F94-D835-403A-B620-5B810ED1BC3B}" srcOrd="1" destOrd="0" presId="urn:microsoft.com/office/officeart/2005/8/layout/hierarchy5"/>
    <dgm:cxn modelId="{24008219-3FA5-408B-B551-AAE408E3ED20}" type="presParOf" srcId="{CFA7DA2C-2943-4B54-8C39-B17EDAFD1120}" destId="{C8F21BE3-8D7C-4B50-84BC-60E42C9701B4}" srcOrd="2" destOrd="0" presId="urn:microsoft.com/office/officeart/2005/8/layout/hierarchy5"/>
    <dgm:cxn modelId="{DCEC35B9-0E29-4421-AC18-451D07D244C6}" type="presParOf" srcId="{C8F21BE3-8D7C-4B50-84BC-60E42C9701B4}" destId="{0BEFFB57-6E76-46D6-8AC0-D7FC77F94987}" srcOrd="0" destOrd="0" presId="urn:microsoft.com/office/officeart/2005/8/layout/hierarchy5"/>
    <dgm:cxn modelId="{92CBE3CF-F301-4EF3-808A-B3B2AF23D564}" type="presParOf" srcId="{CFA7DA2C-2943-4B54-8C39-B17EDAFD1120}" destId="{14BA7E78-D5D5-4BEC-99F0-847C7890B1BF}" srcOrd="3" destOrd="0" presId="urn:microsoft.com/office/officeart/2005/8/layout/hierarchy5"/>
    <dgm:cxn modelId="{4D55306C-96D3-413F-BA39-9D6D444AFD75}" type="presParOf" srcId="{14BA7E78-D5D5-4BEC-99F0-847C7890B1BF}" destId="{4DA76496-6D5D-428C-9E5B-F8DC53DD7F0F}" srcOrd="0" destOrd="0" presId="urn:microsoft.com/office/officeart/2005/8/layout/hierarchy5"/>
    <dgm:cxn modelId="{DB270548-E88A-4C4B-9E7D-CF5566D10A3C}" type="presParOf" srcId="{14BA7E78-D5D5-4BEC-99F0-847C7890B1BF}" destId="{6232497C-94C9-4F6F-AEDD-34020799A522}" srcOrd="1" destOrd="0" presId="urn:microsoft.com/office/officeart/2005/8/layout/hierarchy5"/>
    <dgm:cxn modelId="{2B88F61E-A9B7-4041-B8B4-45E69F98BA91}" type="presParOf" srcId="{0DDE9BBC-81A9-4B44-9AC9-17AA4B2E20AF}" destId="{1053E14C-B70B-415C-B0A0-9280A56656F3}" srcOrd="1" destOrd="0" presId="urn:microsoft.com/office/officeart/2005/8/layout/hierarchy5"/>
    <dgm:cxn modelId="{58664B41-9771-4F34-996D-F867A33B5B62}" type="presParOf" srcId="{1053E14C-B70B-415C-B0A0-9280A56656F3}" destId="{933A4E7D-B71C-4B50-A6DD-F56A3CE075CB}" srcOrd="0" destOrd="0" presId="urn:microsoft.com/office/officeart/2005/8/layout/hierarchy5"/>
    <dgm:cxn modelId="{93BB7981-A6C4-4660-BE1C-644BB586AF9E}" type="presParOf" srcId="{933A4E7D-B71C-4B50-A6DD-F56A3CE075CB}" destId="{6B720D42-1889-4F29-9916-00E0982C7CA5}" srcOrd="0" destOrd="0" presId="urn:microsoft.com/office/officeart/2005/8/layout/hierarchy5"/>
    <dgm:cxn modelId="{466A2C9C-A954-4300-B1A5-12C135D3E6E2}" type="presParOf" srcId="{933A4E7D-B71C-4B50-A6DD-F56A3CE075CB}" destId="{2538B2D4-5C6E-4162-8503-17C27E673D7C}" srcOrd="1" destOrd="0" presId="urn:microsoft.com/office/officeart/2005/8/layout/hierarchy5"/>
    <dgm:cxn modelId="{222869B8-4A78-42B6-9A63-03896E0228D7}" type="presParOf" srcId="{1053E14C-B70B-415C-B0A0-9280A56656F3}" destId="{E3F61102-5D12-470E-BBF5-23EDA3B6FB8D}" srcOrd="1" destOrd="0" presId="urn:microsoft.com/office/officeart/2005/8/layout/hierarchy5"/>
    <dgm:cxn modelId="{0E2D5E83-B191-4AA4-A990-E2A5FE982D30}" type="presParOf" srcId="{E3F61102-5D12-470E-BBF5-23EDA3B6FB8D}" destId="{CF6F2A7F-46B6-4980-8C5C-3AAFEC26ADC5}" srcOrd="0" destOrd="0" presId="urn:microsoft.com/office/officeart/2005/8/layout/hierarchy5"/>
    <dgm:cxn modelId="{04CA9233-88F9-4EEF-AE77-9CE172536FC2}" type="presParOf" srcId="{1053E14C-B70B-415C-B0A0-9280A56656F3}" destId="{4FC287C9-9DEB-4819-B5BD-755897370C90}" srcOrd="2" destOrd="0" presId="urn:microsoft.com/office/officeart/2005/8/layout/hierarchy5"/>
    <dgm:cxn modelId="{6126909A-8E1A-48F9-9495-A79B2285C6F6}" type="presParOf" srcId="{4FC287C9-9DEB-4819-B5BD-755897370C90}" destId="{FA0C9002-2F98-4931-8471-13975676F36F}" srcOrd="0" destOrd="0" presId="urn:microsoft.com/office/officeart/2005/8/layout/hierarchy5"/>
    <dgm:cxn modelId="{AA75A467-1107-46D0-BCED-1FFEB7885A36}" type="presParOf" srcId="{4FC287C9-9DEB-4819-B5BD-755897370C90}" destId="{3B5AF0D2-1DCC-4B68-8DDC-4A1D82391A0E}" srcOrd="1" destOrd="0" presId="urn:microsoft.com/office/officeart/2005/8/layout/hierarchy5"/>
    <dgm:cxn modelId="{8DEB13F9-74DC-4DDC-B80F-0C109D7C8690}" type="presParOf" srcId="{1053E14C-B70B-415C-B0A0-9280A56656F3}" destId="{C9A4490B-B1E7-4C32-ACE0-3B1C1A01F058}" srcOrd="3" destOrd="0" presId="urn:microsoft.com/office/officeart/2005/8/layout/hierarchy5"/>
    <dgm:cxn modelId="{802153CF-7658-4F2E-948C-54635029363A}" type="presParOf" srcId="{C9A4490B-B1E7-4C32-ACE0-3B1C1A01F058}" destId="{8B157B04-9924-448F-9E17-B03DF06BE13D}" srcOrd="0" destOrd="0" presId="urn:microsoft.com/office/officeart/2005/8/layout/hierarchy5"/>
    <dgm:cxn modelId="{4C203364-B19E-4377-967A-652EC640E9DC}" type="presParOf" srcId="{1053E14C-B70B-415C-B0A0-9280A56656F3}" destId="{2F3B9CF7-7EB3-4DD0-9C07-378F8E1B0A10}" srcOrd="4" destOrd="0" presId="urn:microsoft.com/office/officeart/2005/8/layout/hierarchy5"/>
    <dgm:cxn modelId="{C5B8150F-9503-4232-AA88-8A92D9708FE5}" type="presParOf" srcId="{2F3B9CF7-7EB3-4DD0-9C07-378F8E1B0A10}" destId="{E733B09B-BE85-44C3-B3F5-08FE2A14F720}" srcOrd="0" destOrd="0" presId="urn:microsoft.com/office/officeart/2005/8/layout/hierarchy5"/>
    <dgm:cxn modelId="{18C3CADB-D1A1-4661-A018-32922C953573}" type="presParOf" srcId="{2F3B9CF7-7EB3-4DD0-9C07-378F8E1B0A10}" destId="{39909682-22AE-485C-9A11-81F624FB67FE}" srcOrd="1" destOrd="0" presId="urn:microsoft.com/office/officeart/2005/8/layout/hierarchy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33B09B-BE85-44C3-B3F5-08FE2A14F720}">
      <dsp:nvSpPr>
        <dsp:cNvPr id="0" name=""/>
        <dsp:cNvSpPr/>
      </dsp:nvSpPr>
      <dsp:spPr>
        <a:xfrm>
          <a:off x="5442468" y="0"/>
          <a:ext cx="2329931" cy="4572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348488" tIns="348488" rIns="348488" bIns="348488" numCol="1" spcCol="1270" anchor="ctr" anchorCtr="0">
          <a:noAutofit/>
        </a:bodyPr>
        <a:lstStyle/>
        <a:p>
          <a:pPr marL="0" lvl="0" indent="0" algn="ctr" defTabSz="2178050">
            <a:lnSpc>
              <a:spcPct val="90000"/>
            </a:lnSpc>
            <a:spcBef>
              <a:spcPct val="0"/>
            </a:spcBef>
            <a:spcAft>
              <a:spcPct val="35000"/>
            </a:spcAft>
            <a:buNone/>
          </a:pPr>
          <a:endParaRPr lang="en-US" sz="4900" kern="1200"/>
        </a:p>
      </dsp:txBody>
      <dsp:txXfrm>
        <a:off x="5442468" y="0"/>
        <a:ext cx="2329931" cy="1371600"/>
      </dsp:txXfrm>
    </dsp:sp>
    <dsp:sp modelId="{FA0C9002-2F98-4931-8471-13975676F36F}">
      <dsp:nvSpPr>
        <dsp:cNvPr id="0" name=""/>
        <dsp:cNvSpPr/>
      </dsp:nvSpPr>
      <dsp:spPr>
        <a:xfrm>
          <a:off x="5442468" y="0"/>
          <a:ext cx="2329931" cy="4572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348488" tIns="348488" rIns="348488" bIns="348488" numCol="1" spcCol="1270" anchor="ctr" anchorCtr="0">
          <a:noAutofit/>
        </a:bodyPr>
        <a:lstStyle/>
        <a:p>
          <a:pPr marL="0" lvl="0" indent="0" algn="ctr" defTabSz="2178050">
            <a:lnSpc>
              <a:spcPct val="90000"/>
            </a:lnSpc>
            <a:spcBef>
              <a:spcPct val="0"/>
            </a:spcBef>
            <a:spcAft>
              <a:spcPct val="35000"/>
            </a:spcAft>
            <a:buNone/>
          </a:pPr>
          <a:endParaRPr lang="en-US" sz="4900" kern="1200" dirty="0"/>
        </a:p>
      </dsp:txBody>
      <dsp:txXfrm>
        <a:off x="5442468" y="0"/>
        <a:ext cx="2329931" cy="1371600"/>
      </dsp:txXfrm>
    </dsp:sp>
    <dsp:sp modelId="{6B720D42-1889-4F29-9916-00E0982C7CA5}">
      <dsp:nvSpPr>
        <dsp:cNvPr id="0" name=""/>
        <dsp:cNvSpPr/>
      </dsp:nvSpPr>
      <dsp:spPr>
        <a:xfrm>
          <a:off x="5442468" y="0"/>
          <a:ext cx="2329931" cy="4572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348488" tIns="348488" rIns="348488" bIns="348488" numCol="1" spcCol="1270" anchor="ctr" anchorCtr="0">
          <a:noAutofit/>
        </a:bodyPr>
        <a:lstStyle/>
        <a:p>
          <a:pPr marL="0" lvl="0" indent="0" algn="ctr" defTabSz="2178050">
            <a:lnSpc>
              <a:spcPct val="90000"/>
            </a:lnSpc>
            <a:spcBef>
              <a:spcPct val="0"/>
            </a:spcBef>
            <a:spcAft>
              <a:spcPct val="35000"/>
            </a:spcAft>
            <a:buNone/>
          </a:pPr>
          <a:endParaRPr lang="en-US" sz="4900" kern="1200" dirty="0"/>
        </a:p>
      </dsp:txBody>
      <dsp:txXfrm>
        <a:off x="5442468" y="0"/>
        <a:ext cx="2329931" cy="1371600"/>
      </dsp:txXfrm>
    </dsp:sp>
    <dsp:sp modelId="{E82A4DA3-12AE-44E0-B788-48624CA5773D}">
      <dsp:nvSpPr>
        <dsp:cNvPr id="0" name=""/>
        <dsp:cNvSpPr/>
      </dsp:nvSpPr>
      <dsp:spPr>
        <a:xfrm>
          <a:off x="137264" y="1666031"/>
          <a:ext cx="1951136" cy="975568"/>
        </a:xfrm>
        <a:prstGeom prst="roundRect">
          <a:avLst>
            <a:gd name="adj" fmla="val 10000"/>
          </a:avLst>
        </a:prstGeom>
        <a:solidFill>
          <a:srgbClr val="00B050"/>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b="1" kern="1200" dirty="0" err="1">
              <a:solidFill>
                <a:schemeClr val="tx1"/>
              </a:solidFill>
            </a:rPr>
            <a:t>Semiconduktor</a:t>
          </a:r>
          <a:endParaRPr lang="en-US" sz="2200" b="1" kern="1200" dirty="0">
            <a:solidFill>
              <a:schemeClr val="tx1"/>
            </a:solidFill>
          </a:endParaRPr>
        </a:p>
      </dsp:txBody>
      <dsp:txXfrm>
        <a:off x="165837" y="1694604"/>
        <a:ext cx="1893990" cy="918422"/>
      </dsp:txXfrm>
    </dsp:sp>
    <dsp:sp modelId="{6E66BA1D-7220-4E62-B70E-C82D8F49D9C1}">
      <dsp:nvSpPr>
        <dsp:cNvPr id="0" name=""/>
        <dsp:cNvSpPr/>
      </dsp:nvSpPr>
      <dsp:spPr>
        <a:xfrm rot="18671193">
          <a:off x="1887360" y="1691556"/>
          <a:ext cx="1177444" cy="38408"/>
        </a:xfrm>
        <a:custGeom>
          <a:avLst/>
          <a:gdLst/>
          <a:ahLst/>
          <a:cxnLst/>
          <a:rect l="0" t="0" r="0" b="0"/>
          <a:pathLst>
            <a:path>
              <a:moveTo>
                <a:pt x="0" y="19204"/>
              </a:moveTo>
              <a:lnTo>
                <a:pt x="1177444" y="1920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46646" y="1681324"/>
        <a:ext cx="58872" cy="58872"/>
      </dsp:txXfrm>
    </dsp:sp>
    <dsp:sp modelId="{5BB7E1B0-47B1-492E-B3D2-CF6EF891DC81}">
      <dsp:nvSpPr>
        <dsp:cNvPr id="0" name=""/>
        <dsp:cNvSpPr/>
      </dsp:nvSpPr>
      <dsp:spPr>
        <a:xfrm>
          <a:off x="2863763" y="779922"/>
          <a:ext cx="1951136" cy="975568"/>
        </a:xfrm>
        <a:prstGeom prst="roundRect">
          <a:avLst>
            <a:gd name="adj" fmla="val 10000"/>
          </a:avLst>
        </a:prstGeom>
        <a:solidFill>
          <a:srgbClr val="00B0F0"/>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tx1"/>
              </a:solidFill>
            </a:rPr>
            <a:t>Extrinsic</a:t>
          </a:r>
        </a:p>
      </dsp:txBody>
      <dsp:txXfrm>
        <a:off x="2892336" y="808495"/>
        <a:ext cx="1893990" cy="918422"/>
      </dsp:txXfrm>
    </dsp:sp>
    <dsp:sp modelId="{153037D6-D8B5-4FA9-B443-AEF6ED3F1C12}">
      <dsp:nvSpPr>
        <dsp:cNvPr id="0" name=""/>
        <dsp:cNvSpPr/>
      </dsp:nvSpPr>
      <dsp:spPr>
        <a:xfrm rot="1162437">
          <a:off x="4791629" y="1384828"/>
          <a:ext cx="821903" cy="38408"/>
        </a:xfrm>
        <a:custGeom>
          <a:avLst/>
          <a:gdLst/>
          <a:ahLst/>
          <a:cxnLst/>
          <a:rect l="0" t="0" r="0" b="0"/>
          <a:pathLst>
            <a:path>
              <a:moveTo>
                <a:pt x="0" y="19204"/>
              </a:moveTo>
              <a:lnTo>
                <a:pt x="821903" y="19204"/>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82033" y="1383484"/>
        <a:ext cx="41095" cy="41095"/>
      </dsp:txXfrm>
    </dsp:sp>
    <dsp:sp modelId="{D6D01AD7-A044-448F-9730-4CB470A4FEE4}">
      <dsp:nvSpPr>
        <dsp:cNvPr id="0" name=""/>
        <dsp:cNvSpPr/>
      </dsp:nvSpPr>
      <dsp:spPr>
        <a:xfrm>
          <a:off x="5590262" y="1052574"/>
          <a:ext cx="1951136" cy="97556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tx1"/>
              </a:solidFill>
            </a:rPr>
            <a:t>P- type material</a:t>
          </a:r>
        </a:p>
      </dsp:txBody>
      <dsp:txXfrm>
        <a:off x="5618835" y="1081147"/>
        <a:ext cx="1893990" cy="918422"/>
      </dsp:txXfrm>
    </dsp:sp>
    <dsp:sp modelId="{4EE273B4-9D5D-4A87-899D-0DA765E014F0}">
      <dsp:nvSpPr>
        <dsp:cNvPr id="0" name=""/>
        <dsp:cNvSpPr/>
      </dsp:nvSpPr>
      <dsp:spPr>
        <a:xfrm rot="3957582">
          <a:off x="4200667" y="2195067"/>
          <a:ext cx="2072937" cy="38408"/>
        </a:xfrm>
        <a:custGeom>
          <a:avLst/>
          <a:gdLst/>
          <a:ahLst/>
          <a:cxnLst/>
          <a:rect l="0" t="0" r="0" b="0"/>
          <a:pathLst>
            <a:path>
              <a:moveTo>
                <a:pt x="0" y="19204"/>
              </a:moveTo>
              <a:lnTo>
                <a:pt x="2072937" y="19204"/>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5185312" y="2162447"/>
        <a:ext cx="103646" cy="103646"/>
      </dsp:txXfrm>
    </dsp:sp>
    <dsp:sp modelId="{72B51D5E-05B2-4FD8-B59E-C2A1E2AD418A}">
      <dsp:nvSpPr>
        <dsp:cNvPr id="0" name=""/>
        <dsp:cNvSpPr/>
      </dsp:nvSpPr>
      <dsp:spPr>
        <a:xfrm>
          <a:off x="5659371" y="2673051"/>
          <a:ext cx="1951136" cy="97556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tx1"/>
              </a:solidFill>
            </a:rPr>
            <a:t>N-type material</a:t>
          </a:r>
        </a:p>
      </dsp:txBody>
      <dsp:txXfrm>
        <a:off x="5687944" y="2701624"/>
        <a:ext cx="1893990" cy="918422"/>
      </dsp:txXfrm>
    </dsp:sp>
    <dsp:sp modelId="{C8F21BE3-8D7C-4B50-84BC-60E42C9701B4}">
      <dsp:nvSpPr>
        <dsp:cNvPr id="0" name=""/>
        <dsp:cNvSpPr/>
      </dsp:nvSpPr>
      <dsp:spPr>
        <a:xfrm rot="2642371">
          <a:off x="1936782" y="2509507"/>
          <a:ext cx="1078598" cy="38408"/>
        </a:xfrm>
        <a:custGeom>
          <a:avLst/>
          <a:gdLst/>
          <a:ahLst/>
          <a:cxnLst/>
          <a:rect l="0" t="0" r="0" b="0"/>
          <a:pathLst>
            <a:path>
              <a:moveTo>
                <a:pt x="0" y="19204"/>
              </a:moveTo>
              <a:lnTo>
                <a:pt x="1078598" y="1920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49117" y="2501746"/>
        <a:ext cx="53929" cy="53929"/>
      </dsp:txXfrm>
    </dsp:sp>
    <dsp:sp modelId="{4DA76496-6D5D-428C-9E5B-F8DC53DD7F0F}">
      <dsp:nvSpPr>
        <dsp:cNvPr id="0" name=""/>
        <dsp:cNvSpPr/>
      </dsp:nvSpPr>
      <dsp:spPr>
        <a:xfrm>
          <a:off x="2863763" y="2415823"/>
          <a:ext cx="1951136" cy="97556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tx1"/>
              </a:solidFill>
            </a:rPr>
            <a:t>Intrinsic</a:t>
          </a:r>
        </a:p>
      </dsp:txBody>
      <dsp:txXfrm>
        <a:off x="2892336" y="2444396"/>
        <a:ext cx="1893990" cy="91842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BD863DC-ACDF-434B-A832-34A5E6AC7C99}" type="datetimeFigureOut">
              <a:rPr lang="en-US" smtClean="0"/>
              <a:pPr/>
              <a:t>10/5/2021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C649B-94B6-4E10-AE25-8890421C504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6F67DDD5-EB20-4E8E-AEB7-4F218CB6F7E5}" type="slidenum">
              <a:rPr lang="en-US" smtClean="0"/>
              <a:pPr/>
              <a:t>1</a:t>
            </a:fld>
            <a:endParaRPr lang="en-US"/>
          </a:p>
        </p:txBody>
      </p:sp>
      <p:sp>
        <p:nvSpPr>
          <p:cNvPr id="27651" name="Rectangle 7"/>
          <p:cNvSpPr txBox="1">
            <a:spLocks noGrp="1" noChangeArrowheads="1"/>
          </p:cNvSpPr>
          <p:nvPr/>
        </p:nvSpPr>
        <p:spPr bwMode="auto">
          <a:xfrm>
            <a:off x="3884613" y="8684828"/>
            <a:ext cx="2971800" cy="457594"/>
          </a:xfrm>
          <a:prstGeom prst="rect">
            <a:avLst/>
          </a:prstGeom>
          <a:noFill/>
          <a:ln w="9525">
            <a:noFill/>
            <a:miter lim="800000"/>
            <a:headEnd/>
            <a:tailEnd/>
          </a:ln>
        </p:spPr>
        <p:txBody>
          <a:bodyPr anchor="b"/>
          <a:lstStyle/>
          <a:p>
            <a:pPr algn="r"/>
            <a:fld id="{D232D566-80B4-4D25-B6D0-8495DDE8F8E3}" type="slidenum">
              <a:rPr lang="en-US" sz="1200">
                <a:latin typeface="Calibri" pitchFamily="34" charset="0"/>
              </a:rPr>
              <a:pPr algn="r"/>
              <a:t>1</a:t>
            </a:fld>
            <a:endParaRPr lang="en-US" sz="1200">
              <a:latin typeface="Calibri" pitchFamily="34" charset="0"/>
            </a:endParaRPr>
          </a:p>
        </p:txBody>
      </p:sp>
      <p:sp>
        <p:nvSpPr>
          <p:cNvPr id="27652" name="Rectangle 7"/>
          <p:cNvSpPr txBox="1">
            <a:spLocks noGrp="1" noChangeArrowheads="1"/>
          </p:cNvSpPr>
          <p:nvPr/>
        </p:nvSpPr>
        <p:spPr bwMode="auto">
          <a:xfrm>
            <a:off x="3884613" y="8684828"/>
            <a:ext cx="2971800" cy="457594"/>
          </a:xfrm>
          <a:prstGeom prst="rect">
            <a:avLst/>
          </a:prstGeom>
          <a:noFill/>
          <a:ln w="9525">
            <a:noFill/>
            <a:miter lim="800000"/>
            <a:headEnd/>
            <a:tailEnd/>
          </a:ln>
        </p:spPr>
        <p:txBody>
          <a:bodyPr anchor="b"/>
          <a:lstStyle/>
          <a:p>
            <a:pPr algn="r"/>
            <a:fld id="{2894778F-EE7F-4C77-9ADC-770E4AEC4A34}" type="slidenum">
              <a:rPr lang="en-US" sz="1200"/>
              <a:pPr algn="r"/>
              <a:t>1</a:t>
            </a:fld>
            <a:endParaRPr lang="en-US" sz="1200"/>
          </a:p>
        </p:txBody>
      </p:sp>
      <p:sp>
        <p:nvSpPr>
          <p:cNvPr id="27653" name="Rectangle 2"/>
          <p:cNvSpPr>
            <a:spLocks noGrp="1" noRot="1" noChangeAspect="1" noChangeArrowheads="1" noTextEdit="1"/>
          </p:cNvSpPr>
          <p:nvPr>
            <p:ph type="sldImg"/>
          </p:nvPr>
        </p:nvSpPr>
        <p:spPr>
          <a:ln/>
        </p:spPr>
      </p:sp>
      <p:sp>
        <p:nvSpPr>
          <p:cNvPr id="27654" name="Rectangle 3"/>
          <p:cNvSpPr>
            <a:spLocks noGrp="1" noChangeArrowheads="1"/>
          </p:cNvSpPr>
          <p:nvPr>
            <p:ph type="body" idx="1"/>
          </p:nvPr>
        </p:nvSpPr>
        <p:spPr>
          <a:noFill/>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2A6C7A12-2F43-4BB9-93E9-8E5816AE6F8D}" type="datetimeFigureOut">
              <a:rPr lang="en-US" smtClean="0"/>
              <a:pPr/>
              <a:t>10/5/2021</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4D291BF5-8C41-4B28-9E71-BDE05C088A32}"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2A6C7A12-2F43-4BB9-93E9-8E5816AE6F8D}" type="datetimeFigureOut">
              <a:rPr lang="en-US" smtClean="0"/>
              <a:pPr/>
              <a:t>10/5/2021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291BF5-8C41-4B28-9E71-BDE05C088A32}"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2A6C7A12-2F43-4BB9-93E9-8E5816AE6F8D}" type="datetimeFigureOut">
              <a:rPr lang="en-US" smtClean="0"/>
              <a:pPr/>
              <a:t>10/5/2021</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4D291BF5-8C41-4B28-9E71-BDE05C088A32}"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2A6C7A12-2F43-4BB9-93E9-8E5816AE6F8D}" type="datetimeFigureOut">
              <a:rPr lang="en-US" smtClean="0"/>
              <a:pPr/>
              <a:t>10/5/2021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291BF5-8C41-4B28-9E71-BDE05C088A32}"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2A6C7A12-2F43-4BB9-93E9-8E5816AE6F8D}" type="datetimeFigureOut">
              <a:rPr lang="en-US" smtClean="0"/>
              <a:pPr/>
              <a:t>10/5/2021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291BF5-8C41-4B28-9E71-BDE05C088A32}"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2A6C7A12-2F43-4BB9-93E9-8E5816AE6F8D}" type="datetimeFigureOut">
              <a:rPr lang="en-US" smtClean="0"/>
              <a:pPr/>
              <a:t>10/5/2021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291BF5-8C41-4B28-9E71-BDE05C088A3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6C7A12-2F43-4BB9-93E9-8E5816AE6F8D}" type="datetimeFigureOut">
              <a:rPr lang="en-US" smtClean="0"/>
              <a:pPr/>
              <a:t>10/5/2021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291BF5-8C41-4B28-9E71-BDE05C088A3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2A6C7A12-2F43-4BB9-93E9-8E5816AE6F8D}" type="datetimeFigureOut">
              <a:rPr lang="en-US" smtClean="0"/>
              <a:pPr/>
              <a:t>10/5/2021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291BF5-8C41-4B28-9E71-BDE05C088A32}"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2A6C7A12-2F43-4BB9-93E9-8E5816AE6F8D}" type="datetimeFigureOut">
              <a:rPr lang="en-US" smtClean="0"/>
              <a:pPr/>
              <a:t>10/5/2021</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4D291BF5-8C41-4B28-9E71-BDE05C088A32}"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A6C7A12-2F43-4BB9-93E9-8E5816AE6F8D}" type="datetimeFigureOut">
              <a:rPr lang="en-US" smtClean="0"/>
              <a:pPr/>
              <a:t>10/5/2021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291BF5-8C41-4B28-9E71-BDE05C088A3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A6C7A12-2F43-4BB9-93E9-8E5816AE6F8D}" type="datetimeFigureOut">
              <a:rPr lang="en-US" smtClean="0"/>
              <a:pPr/>
              <a:t>10/5/2021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291BF5-8C41-4B28-9E71-BDE05C088A3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2A6C7A12-2F43-4BB9-93E9-8E5816AE6F8D}" type="datetimeFigureOut">
              <a:rPr lang="en-US" smtClean="0"/>
              <a:pPr/>
              <a:t>10/5/2021</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4D291BF5-8C41-4B28-9E71-BDE05C088A3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gif"/><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www.wikipedia.com/" TargetMode="External"/><Relationship Id="rId2" Type="http://schemas.openxmlformats.org/officeDocument/2006/relationships/hyperlink" Target="http://www.google.com/" TargetMode="External"/><Relationship Id="rId1" Type="http://schemas.openxmlformats.org/officeDocument/2006/relationships/slideLayout" Target="../slideLayouts/slideLayout2.xml"/><Relationship Id="rId4" Type="http://schemas.openxmlformats.org/officeDocument/2006/relationships/hyperlink" Target="http://www.studymafia.org/"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logo1"/>
          <p:cNvPicPr>
            <a:picLocks noChangeAspect="1" noChangeArrowheads="1"/>
          </p:cNvPicPr>
          <p:nvPr/>
        </p:nvPicPr>
        <p:blipFill>
          <a:blip r:embed="rId3" cstate="print"/>
          <a:srcRect/>
          <a:stretch>
            <a:fillRect/>
          </a:stretch>
        </p:blipFill>
        <p:spPr bwMode="auto">
          <a:xfrm>
            <a:off x="304800" y="60325"/>
            <a:ext cx="1143000" cy="1143000"/>
          </a:xfrm>
          <a:prstGeom prst="rect">
            <a:avLst/>
          </a:prstGeom>
          <a:noFill/>
          <a:ln w="9525">
            <a:noFill/>
            <a:miter lim="800000"/>
            <a:headEnd/>
            <a:tailEnd/>
          </a:ln>
        </p:spPr>
      </p:pic>
      <p:pic>
        <p:nvPicPr>
          <p:cNvPr id="9219" name="Picture 3" descr="strip1"/>
          <p:cNvPicPr>
            <a:picLocks noChangeAspect="1" noChangeArrowheads="1"/>
          </p:cNvPicPr>
          <p:nvPr/>
        </p:nvPicPr>
        <p:blipFill>
          <a:blip r:embed="rId4" cstate="print"/>
          <a:srcRect/>
          <a:stretch>
            <a:fillRect/>
          </a:stretch>
        </p:blipFill>
        <p:spPr bwMode="auto">
          <a:xfrm>
            <a:off x="1371600" y="593725"/>
            <a:ext cx="7620000" cy="76200"/>
          </a:xfrm>
          <a:prstGeom prst="rect">
            <a:avLst/>
          </a:prstGeom>
          <a:noFill/>
          <a:ln w="9525">
            <a:noFill/>
            <a:miter lim="800000"/>
            <a:headEnd/>
            <a:tailEnd/>
          </a:ln>
        </p:spPr>
      </p:pic>
      <p:sp>
        <p:nvSpPr>
          <p:cNvPr id="9220" name="Rectangle 5"/>
          <p:cNvSpPr>
            <a:spLocks noChangeArrowheads="1"/>
          </p:cNvSpPr>
          <p:nvPr/>
        </p:nvSpPr>
        <p:spPr bwMode="auto">
          <a:xfrm>
            <a:off x="457200" y="762000"/>
            <a:ext cx="8686800" cy="1143000"/>
          </a:xfrm>
          <a:prstGeom prst="rect">
            <a:avLst/>
          </a:prstGeom>
          <a:noFill/>
          <a:ln w="9525">
            <a:noFill/>
            <a:miter lim="800000"/>
            <a:headEnd/>
            <a:tailEnd/>
          </a:ln>
        </p:spPr>
        <p:txBody>
          <a:bodyPr anchor="ctr"/>
          <a:lstStyle/>
          <a:p>
            <a:pPr algn="ctr"/>
            <a:r>
              <a:rPr lang="en-US" sz="6000" dirty="0">
                <a:solidFill>
                  <a:srgbClr val="0070C0"/>
                </a:solidFill>
                <a:latin typeface="Verdana" pitchFamily="34" charset="0"/>
              </a:rPr>
              <a:t>www.studymafia.org</a:t>
            </a:r>
            <a:endParaRPr lang="en-US" sz="6000" dirty="0">
              <a:solidFill>
                <a:srgbClr val="0070C0"/>
              </a:solidFill>
            </a:endParaRPr>
          </a:p>
        </p:txBody>
      </p:sp>
      <p:sp>
        <p:nvSpPr>
          <p:cNvPr id="9221" name="Text Box 9"/>
          <p:cNvSpPr txBox="1">
            <a:spLocks noChangeArrowheads="1"/>
          </p:cNvSpPr>
          <p:nvPr/>
        </p:nvSpPr>
        <p:spPr bwMode="auto">
          <a:xfrm>
            <a:off x="304800" y="5562600"/>
            <a:ext cx="8610600" cy="677108"/>
          </a:xfrm>
          <a:prstGeom prst="rect">
            <a:avLst/>
          </a:prstGeom>
          <a:noFill/>
          <a:ln w="9525">
            <a:noFill/>
            <a:miter lim="800000"/>
            <a:headEnd/>
            <a:tailEnd/>
          </a:ln>
        </p:spPr>
        <p:txBody>
          <a:bodyPr>
            <a:spAutoFit/>
          </a:bodyPr>
          <a:lstStyle/>
          <a:p>
            <a:pPr>
              <a:spcBef>
                <a:spcPct val="50000"/>
              </a:spcBef>
            </a:pPr>
            <a:r>
              <a:rPr lang="en-US" sz="2000" b="1" dirty="0"/>
              <a:t>Submitted To:				                      Submitted By:</a:t>
            </a:r>
          </a:p>
          <a:p>
            <a:r>
              <a:rPr lang="en-US" b="1" dirty="0"/>
              <a:t>www.studymafia.org                                                                          </a:t>
            </a:r>
            <a:r>
              <a:rPr lang="en-US" b="1" dirty="0" err="1"/>
              <a:t>www.studymafia.org</a:t>
            </a:r>
            <a:r>
              <a:rPr lang="en-US" dirty="0"/>
              <a:t> </a:t>
            </a:r>
            <a:endParaRPr lang="en-US" b="1" dirty="0"/>
          </a:p>
        </p:txBody>
      </p:sp>
      <p:sp>
        <p:nvSpPr>
          <p:cNvPr id="11270" name="Rectangle 8"/>
          <p:cNvSpPr>
            <a:spLocks noChangeArrowheads="1"/>
          </p:cNvSpPr>
          <p:nvPr/>
        </p:nvSpPr>
        <p:spPr bwMode="auto">
          <a:xfrm>
            <a:off x="-838200" y="2362200"/>
            <a:ext cx="6400800" cy="1815882"/>
          </a:xfrm>
          <a:prstGeom prst="rect">
            <a:avLst/>
          </a:prstGeom>
          <a:noFill/>
          <a:ln w="9525">
            <a:noFill/>
            <a:miter lim="800000"/>
            <a:headEnd/>
            <a:tailEnd/>
          </a:ln>
        </p:spPr>
        <p:txBody>
          <a:bodyPr>
            <a:spAutoFit/>
          </a:bodyPr>
          <a:lstStyle/>
          <a:p>
            <a:pPr algn="ctr">
              <a:defRPr/>
            </a:pPr>
            <a:r>
              <a:rPr lang="en-US" sz="3600" b="1" dirty="0">
                <a:solidFill>
                  <a:srgbClr val="0070C0"/>
                </a:solidFill>
                <a:latin typeface="+mn-lt"/>
              </a:rPr>
              <a:t>   Seminar </a:t>
            </a:r>
          </a:p>
          <a:p>
            <a:pPr algn="ctr">
              <a:defRPr/>
            </a:pPr>
            <a:r>
              <a:rPr lang="en-US" sz="3600" b="1" dirty="0">
                <a:solidFill>
                  <a:srgbClr val="0070C0"/>
                </a:solidFill>
                <a:latin typeface="+mn-lt"/>
              </a:rPr>
              <a:t>On</a:t>
            </a:r>
          </a:p>
          <a:p>
            <a:pPr algn="ctr">
              <a:defRPr/>
            </a:pPr>
            <a:r>
              <a:rPr lang="en-US" sz="4000" b="1" dirty="0">
                <a:solidFill>
                  <a:srgbClr val="0070C0"/>
                </a:solidFill>
                <a:latin typeface="Times New Roman" pitchFamily="18" charset="0"/>
                <a:cs typeface="Times New Roman" pitchFamily="18" charset="0"/>
              </a:rPr>
              <a:t> Semiconductors</a:t>
            </a:r>
            <a:endParaRPr lang="en-US" sz="4000" b="1" dirty="0">
              <a:solidFill>
                <a:srgbClr val="0070C0"/>
              </a:solidFill>
              <a:latin typeface="+mn-lt"/>
              <a:cs typeface="Times New Roman" pitchFamily="18"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 </a:t>
            </a:r>
          </a:p>
        </p:txBody>
      </p:sp>
      <p:sp>
        <p:nvSpPr>
          <p:cNvPr id="3" name="Content Placeholder 2"/>
          <p:cNvSpPr>
            <a:spLocks noGrp="1"/>
          </p:cNvSpPr>
          <p:nvPr>
            <p:ph sz="quarter" idx="1"/>
          </p:nvPr>
        </p:nvSpPr>
        <p:spPr/>
        <p:txBody>
          <a:bodyPr>
            <a:noAutofit/>
          </a:bodyPr>
          <a:lstStyle/>
          <a:p>
            <a:r>
              <a:rPr lang="en-US" sz="2800" dirty="0">
                <a:latin typeface="Times New Roman" pitchFamily="18" charset="0"/>
                <a:cs typeface="Times New Roman" pitchFamily="18" charset="0"/>
              </a:rPr>
              <a:t>Introduction</a:t>
            </a:r>
          </a:p>
          <a:p>
            <a:r>
              <a:rPr lang="en-US" sz="2800" dirty="0">
                <a:latin typeface="Times New Roman" pitchFamily="18" charset="0"/>
                <a:cs typeface="Times New Roman" pitchFamily="18" charset="0"/>
              </a:rPr>
              <a:t>Types OF Semiconductors</a:t>
            </a:r>
          </a:p>
          <a:p>
            <a:r>
              <a:rPr lang="en-US" sz="2800" dirty="0">
                <a:latin typeface="Times New Roman" pitchFamily="18" charset="0"/>
                <a:cs typeface="Times New Roman" pitchFamily="18" charset="0"/>
              </a:rPr>
              <a:t>Intrinsic</a:t>
            </a:r>
          </a:p>
          <a:p>
            <a:r>
              <a:rPr lang="en-US" sz="2800" dirty="0">
                <a:latin typeface="Times New Roman" pitchFamily="18" charset="0"/>
                <a:cs typeface="Times New Roman" pitchFamily="18" charset="0"/>
              </a:rPr>
              <a:t>Extrinsic</a:t>
            </a:r>
          </a:p>
          <a:p>
            <a:r>
              <a:rPr lang="en-US" sz="2800" dirty="0">
                <a:latin typeface="Times New Roman" pitchFamily="18" charset="0"/>
                <a:cs typeface="Times New Roman" pitchFamily="18" charset="0"/>
              </a:rPr>
              <a:t>N-Type Material</a:t>
            </a:r>
          </a:p>
          <a:p>
            <a:r>
              <a:rPr lang="en-US" sz="2800" dirty="0">
                <a:latin typeface="Times New Roman" pitchFamily="18" charset="0"/>
                <a:cs typeface="Times New Roman" pitchFamily="18" charset="0"/>
              </a:rPr>
              <a:t>P-Type material</a:t>
            </a:r>
            <a:br>
              <a:rPr lang="en-US" sz="2800" dirty="0">
                <a:latin typeface="Times New Roman" pitchFamily="18" charset="0"/>
                <a:cs typeface="Times New Roman" pitchFamily="18" charset="0"/>
              </a:rPr>
            </a:br>
            <a:r>
              <a:rPr lang="en-US" sz="2800" dirty="0">
                <a:latin typeface="Times New Roman" pitchFamily="18" charset="0"/>
                <a:cs typeface="Times New Roman" pitchFamily="18" charset="0"/>
              </a:rPr>
              <a:t>Classification of materials </a:t>
            </a:r>
          </a:p>
          <a:p>
            <a:r>
              <a:rPr lang="en-US" sz="2800" dirty="0">
                <a:latin typeface="Times New Roman" pitchFamily="18" charset="0"/>
                <a:cs typeface="Times New Roman" pitchFamily="18" charset="0"/>
              </a:rPr>
              <a:t>Band diagram</a:t>
            </a:r>
          </a:p>
          <a:p>
            <a:r>
              <a:rPr lang="en-US" sz="2800" dirty="0">
                <a:latin typeface="Times New Roman" pitchFamily="18" charset="0"/>
                <a:cs typeface="Times New Roman" pitchFamily="18" charset="0"/>
              </a:rPr>
              <a:t>Current flow in semiconductor</a:t>
            </a:r>
          </a:p>
          <a:p>
            <a:r>
              <a:rPr lang="en-US" sz="2800" dirty="0">
                <a:latin typeface="Times New Roman" pitchFamily="18" charset="0"/>
                <a:cs typeface="Times New Roman" pitchFamily="18" charset="0"/>
              </a:rPr>
              <a:t>References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Doctor Soos Bold" pitchFamily="2" charset="0"/>
              </a:rPr>
              <a:t>I</a:t>
            </a:r>
            <a:r>
              <a:rPr lang="en-US" sz="4000" dirty="0">
                <a:latin typeface="Doctor Soos Bold" pitchFamily="2" charset="0"/>
              </a:rPr>
              <a:t>ntroduction</a:t>
            </a:r>
          </a:p>
        </p:txBody>
      </p:sp>
      <p:sp>
        <p:nvSpPr>
          <p:cNvPr id="3" name="Content Placeholder 2"/>
          <p:cNvSpPr>
            <a:spLocks noGrp="1"/>
          </p:cNvSpPr>
          <p:nvPr>
            <p:ph sz="quarter" idx="1"/>
          </p:nvPr>
        </p:nvSpPr>
        <p:spPr>
          <a:xfrm>
            <a:off x="685800" y="1905000"/>
            <a:ext cx="7391400" cy="4572000"/>
          </a:xfrm>
        </p:spPr>
        <p:txBody>
          <a:bodyPr>
            <a:normAutofit/>
          </a:bodyPr>
          <a:lstStyle/>
          <a:p>
            <a:pPr>
              <a:buFont typeface="Arial" pitchFamily="34" charset="0"/>
              <a:buChar char="•"/>
            </a:pPr>
            <a:r>
              <a:rPr lang="en-US" sz="2800" dirty="0"/>
              <a:t>Semiconductors are materials which have a conductivity between conductors (generally metals) and nonconductors or insulators (such as most ceramics). Semiconductors can be pure elements, such as silicon or germanium, or compounds such as gallium arsenide or cadmium selenide. </a:t>
            </a:r>
          </a:p>
          <a:p>
            <a:pPr>
              <a:buFont typeface="Arial" pitchFamily="34" charset="0"/>
              <a:buChar char="•"/>
            </a:pPr>
            <a:r>
              <a:rPr lang="en-US" sz="2800" dirty="0"/>
              <a:t>In a process called doping, small amounts of impurities are added to pure semiconductors causing large changes in the conductivity of the material.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TYPES OF SEMICONDUCTORS</a:t>
            </a:r>
          </a:p>
        </p:txBody>
      </p:sp>
      <p:graphicFrame>
        <p:nvGraphicFramePr>
          <p:cNvPr id="4" name="Content Placeholder 3"/>
          <p:cNvGraphicFramePr>
            <a:graphicFrameLocks noGrp="1"/>
          </p:cNvGraphicFramePr>
          <p:nvPr>
            <p:ph sz="quarter" idx="1"/>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tx1"/>
                </a:solidFill>
                <a:latin typeface="Doctor Soos Bold" pitchFamily="2" charset="0"/>
              </a:rPr>
              <a:t>Intrinsic</a:t>
            </a:r>
            <a:endParaRPr lang="en-US" dirty="0"/>
          </a:p>
        </p:txBody>
      </p:sp>
      <p:sp>
        <p:nvSpPr>
          <p:cNvPr id="3" name="Content Placeholder 2"/>
          <p:cNvSpPr>
            <a:spLocks noGrp="1"/>
          </p:cNvSpPr>
          <p:nvPr>
            <p:ph sz="quarter" idx="1"/>
          </p:nvPr>
        </p:nvSpPr>
        <p:spPr>
          <a:xfrm>
            <a:off x="878840" y="1828800"/>
            <a:ext cx="7772400" cy="4572000"/>
          </a:xfrm>
        </p:spPr>
        <p:txBody>
          <a:bodyPr>
            <a:normAutofit/>
          </a:bodyPr>
          <a:lstStyle/>
          <a:p>
            <a:r>
              <a:rPr lang="en-US" sz="2800" dirty="0"/>
              <a:t>An intrinsic (pure) semiconductor, also called an undoped semiconductor or </a:t>
            </a:r>
            <a:r>
              <a:rPr lang="en-US" sz="2800" dirty="0" err="1"/>
              <a:t>i</a:t>
            </a:r>
            <a:r>
              <a:rPr lang="en-US" sz="2800" dirty="0"/>
              <a:t>-type semiconductor, is </a:t>
            </a:r>
            <a:r>
              <a:rPr lang="en-US" sz="2800" b="1" dirty="0"/>
              <a:t>a pure semiconductor without any significant dopant species</a:t>
            </a:r>
            <a:r>
              <a:rPr lang="en-US" sz="2800" dirty="0"/>
              <a:t> present. </a:t>
            </a:r>
          </a:p>
          <a:p>
            <a:r>
              <a:rPr lang="en-US" sz="2800" dirty="0"/>
              <a:t>The number of charge carriers is therefore determined by the properties of the material itself instead of the amount of impurities.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EXTRINSIC</a:t>
            </a:r>
          </a:p>
        </p:txBody>
      </p:sp>
      <p:sp>
        <p:nvSpPr>
          <p:cNvPr id="3" name="Content Placeholder 2"/>
          <p:cNvSpPr>
            <a:spLocks noGrp="1"/>
          </p:cNvSpPr>
          <p:nvPr>
            <p:ph sz="quarter" idx="1"/>
          </p:nvPr>
        </p:nvSpPr>
        <p:spPr/>
        <p:txBody>
          <a:bodyPr>
            <a:normAutofit/>
          </a:bodyPr>
          <a:lstStyle/>
          <a:p>
            <a:pPr>
              <a:lnSpc>
                <a:spcPct val="150000"/>
              </a:lnSpc>
              <a:buFont typeface="Wingdings" pitchFamily="2" charset="2"/>
              <a:buChar char="§"/>
            </a:pPr>
            <a:r>
              <a:rPr lang="en-US" dirty="0">
                <a:solidFill>
                  <a:schemeClr val="tx1"/>
                </a:solidFill>
                <a:latin typeface="Doctor Soos Bold" pitchFamily="2" charset="0"/>
              </a:rPr>
              <a:t>Created when an impure atom is diffused or implanted into an intrinsic semiconductor.</a:t>
            </a:r>
          </a:p>
          <a:p>
            <a:pPr>
              <a:lnSpc>
                <a:spcPct val="150000"/>
              </a:lnSpc>
              <a:buFont typeface="Wingdings" pitchFamily="2" charset="2"/>
              <a:buChar char="§"/>
            </a:pPr>
            <a:r>
              <a:rPr lang="en-US" dirty="0">
                <a:solidFill>
                  <a:schemeClr val="tx1"/>
                </a:solidFill>
                <a:latin typeface="Doctor Soos Bold" pitchFamily="2" charset="0"/>
              </a:rPr>
              <a:t>The process of diffusion or implantation impurities an the atom is known as doping.</a:t>
            </a:r>
          </a:p>
          <a:p>
            <a:pPr>
              <a:lnSpc>
                <a:spcPct val="150000"/>
              </a:lnSpc>
              <a:buFont typeface="Wingdings" pitchFamily="2" charset="2"/>
              <a:buChar char="§"/>
            </a:pPr>
            <a:r>
              <a:rPr lang="en-US" dirty="0">
                <a:solidFill>
                  <a:schemeClr val="tx1"/>
                </a:solidFill>
                <a:latin typeface="Doctor Soos Bold" pitchFamily="2" charset="0"/>
              </a:rPr>
              <a:t>The purpose of doping is to increase the number of electron/holes to improve the conductivity of extrinsic</a:t>
            </a:r>
            <a:endParaRPr lang="en-US" i="1" dirty="0">
              <a:solidFill>
                <a:schemeClr val="tx1"/>
              </a:solidFill>
              <a:latin typeface="Trebuchet MS" pitchFamily="34" charset="0"/>
            </a:endParaRP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tx1"/>
                </a:solidFill>
                <a:latin typeface="Doctor Soos Bold" pitchFamily="2" charset="0"/>
              </a:rPr>
              <a:t>N-Type Material</a:t>
            </a:r>
            <a:endParaRPr lang="en-US" dirty="0"/>
          </a:p>
        </p:txBody>
      </p:sp>
      <p:sp>
        <p:nvSpPr>
          <p:cNvPr id="3" name="Content Placeholder 2"/>
          <p:cNvSpPr>
            <a:spLocks noGrp="1"/>
          </p:cNvSpPr>
          <p:nvPr>
            <p:ph sz="quarter" idx="1"/>
          </p:nvPr>
        </p:nvSpPr>
        <p:spPr/>
        <p:txBody>
          <a:bodyPr>
            <a:noAutofit/>
          </a:bodyPr>
          <a:lstStyle/>
          <a:p>
            <a:pPr>
              <a:buFont typeface="Wingdings" pitchFamily="2" charset="2"/>
              <a:buChar char="ü"/>
            </a:pPr>
            <a:r>
              <a:rPr lang="en-US" dirty="0"/>
              <a:t>An n-type semiconductor is an intrinsic semiconductor doped with phosphorus (P), arsenic (As), or antimony (Sb) as an impurity. Silicon of Group IV has four valence electrons and phosphorus of Group V has five valence electrons. </a:t>
            </a:r>
          </a:p>
          <a:p>
            <a:pPr>
              <a:buFont typeface="Wingdings" pitchFamily="2" charset="2"/>
              <a:buChar char="ü"/>
            </a:pPr>
            <a:r>
              <a:rPr lang="en-US" dirty="0"/>
              <a:t>If a small amount of phosphorus is added to a pure silicon crystal, one of the valence electrons of phosphorus becomes free to move around (free electron*) as a surplus electron. When this free electron is attracted to the “+” electrode and moves, current flows.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1143000"/>
          </a:xfrm>
        </p:spPr>
        <p:txBody>
          <a:bodyPr>
            <a:normAutofit/>
          </a:bodyPr>
          <a:lstStyle/>
          <a:p>
            <a:r>
              <a:rPr lang="en-US" dirty="0">
                <a:solidFill>
                  <a:schemeClr val="tx1"/>
                </a:solidFill>
                <a:latin typeface="Doctor Soos Bold" pitchFamily="2" charset="0"/>
              </a:rPr>
              <a:t>P-Type material</a:t>
            </a:r>
            <a:endParaRPr lang="en-US" dirty="0"/>
          </a:p>
        </p:txBody>
      </p:sp>
      <p:sp>
        <p:nvSpPr>
          <p:cNvPr id="3" name="Content Placeholder 2"/>
          <p:cNvSpPr>
            <a:spLocks noGrp="1"/>
          </p:cNvSpPr>
          <p:nvPr>
            <p:ph sz="quarter" idx="1"/>
          </p:nvPr>
        </p:nvSpPr>
        <p:spPr>
          <a:xfrm>
            <a:off x="0" y="1066800"/>
            <a:ext cx="8458200" cy="5791200"/>
          </a:xfrm>
        </p:spPr>
        <p:txBody>
          <a:bodyPr>
            <a:normAutofit/>
          </a:bodyPr>
          <a:lstStyle/>
          <a:p>
            <a:pPr>
              <a:lnSpc>
                <a:spcPct val="150000"/>
              </a:lnSpc>
              <a:buFont typeface="Arial" pitchFamily="34" charset="0"/>
              <a:buChar char="•"/>
            </a:pPr>
            <a:r>
              <a:rPr lang="en-US" sz="2800" dirty="0"/>
              <a:t>In a pure (intrinsic) Si or Ge semiconductor, each nucleus uses its four valence electrons to form four covalent bonds with its neighbors (see figure below). </a:t>
            </a:r>
          </a:p>
          <a:p>
            <a:pPr>
              <a:lnSpc>
                <a:spcPct val="150000"/>
              </a:lnSpc>
              <a:buFont typeface="Arial" pitchFamily="34" charset="0"/>
              <a:buChar char="•"/>
            </a:pPr>
            <a:r>
              <a:rPr lang="en-US" sz="2800" dirty="0"/>
              <a:t>Each ionic core, consisting of the nucleus and non-valent electrons, has a net charge of +4, and is surrounded by 4 valence electrons. Since there are no excess electrons or holes In this case, the number of electrons and holes present at any given time will always be equal.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
            <a:ext cx="7772400" cy="1143000"/>
          </a:xfrm>
        </p:spPr>
        <p:txBody>
          <a:bodyPr/>
          <a:lstStyle/>
          <a:p>
            <a:r>
              <a:rPr lang="en-US" dirty="0">
                <a:latin typeface="Doctor Soos Bold" pitchFamily="2" charset="0"/>
              </a:rPr>
              <a:t>Classification of materials</a:t>
            </a:r>
          </a:p>
        </p:txBody>
      </p:sp>
      <p:sp>
        <p:nvSpPr>
          <p:cNvPr id="3" name="Content Placeholder 2"/>
          <p:cNvSpPr>
            <a:spLocks noGrp="1"/>
          </p:cNvSpPr>
          <p:nvPr>
            <p:ph sz="quarter" idx="1"/>
          </p:nvPr>
        </p:nvSpPr>
        <p:spPr>
          <a:xfrm>
            <a:off x="152400" y="1066800"/>
            <a:ext cx="8839200" cy="5486400"/>
          </a:xfrm>
        </p:spPr>
        <p:txBody>
          <a:bodyPr>
            <a:noAutofit/>
          </a:bodyPr>
          <a:lstStyle/>
          <a:p>
            <a:pPr>
              <a:lnSpc>
                <a:spcPct val="150000"/>
              </a:lnSpc>
              <a:buFont typeface="Wingdings" pitchFamily="2" charset="2"/>
              <a:buChar char="ü"/>
            </a:pPr>
            <a:r>
              <a:rPr lang="en-US" sz="2000" dirty="0">
                <a:latin typeface="Doctor Soos Bold" pitchFamily="2" charset="0"/>
              </a:rPr>
              <a:t>Atomic structure consists of three basic element:</a:t>
            </a:r>
          </a:p>
          <a:p>
            <a:pPr lvl="4">
              <a:lnSpc>
                <a:spcPct val="150000"/>
              </a:lnSpc>
              <a:buFont typeface="Courier New" pitchFamily="49" charset="0"/>
              <a:buChar char="o"/>
            </a:pPr>
            <a:r>
              <a:rPr lang="en-US" dirty="0">
                <a:latin typeface="Doctor Soos Bold" pitchFamily="2" charset="0"/>
              </a:rPr>
              <a:t>Proton</a:t>
            </a:r>
          </a:p>
          <a:p>
            <a:pPr lvl="4">
              <a:lnSpc>
                <a:spcPct val="150000"/>
              </a:lnSpc>
              <a:buFont typeface="Courier New" pitchFamily="49" charset="0"/>
              <a:buChar char="o"/>
            </a:pPr>
            <a:r>
              <a:rPr lang="en-US" dirty="0">
                <a:latin typeface="Doctor Soos Bold" pitchFamily="2" charset="0"/>
              </a:rPr>
              <a:t>Neutron</a:t>
            </a:r>
          </a:p>
          <a:p>
            <a:pPr lvl="4">
              <a:lnSpc>
                <a:spcPct val="150000"/>
              </a:lnSpc>
              <a:buFont typeface="Courier New" pitchFamily="49" charset="0"/>
              <a:buChar char="o"/>
            </a:pPr>
            <a:r>
              <a:rPr lang="en-US" dirty="0">
                <a:latin typeface="Doctor Soos Bold" pitchFamily="2" charset="0"/>
              </a:rPr>
              <a:t>Electron	</a:t>
            </a:r>
          </a:p>
          <a:p>
            <a:pPr>
              <a:lnSpc>
                <a:spcPct val="150000"/>
              </a:lnSpc>
              <a:buFont typeface="Wingdings" pitchFamily="2" charset="2"/>
              <a:buChar char="ü"/>
            </a:pPr>
            <a:r>
              <a:rPr lang="en-US" sz="2000" dirty="0">
                <a:latin typeface="Doctor Soos Bold" pitchFamily="2" charset="0"/>
              </a:rPr>
              <a:t>Proton and neutron make up the nucleus.  </a:t>
            </a:r>
          </a:p>
          <a:p>
            <a:pPr>
              <a:lnSpc>
                <a:spcPct val="150000"/>
              </a:lnSpc>
              <a:buFont typeface="Wingdings" pitchFamily="2" charset="2"/>
              <a:buChar char="ü"/>
            </a:pPr>
            <a:r>
              <a:rPr lang="en-US" sz="2000" dirty="0">
                <a:latin typeface="Doctor Soos Bold" pitchFamily="2" charset="0"/>
              </a:rPr>
              <a:t>Electron spin in the orbit around the nucleus.</a:t>
            </a:r>
          </a:p>
          <a:p>
            <a:pPr>
              <a:lnSpc>
                <a:spcPct val="150000"/>
              </a:lnSpc>
              <a:buFont typeface="Wingdings" pitchFamily="2" charset="2"/>
              <a:buChar char="ü"/>
            </a:pPr>
            <a:r>
              <a:rPr lang="en-US" sz="2000" dirty="0">
                <a:latin typeface="Doctor Soos Bold" pitchFamily="2" charset="0"/>
              </a:rPr>
              <a:t>Electrons are negatively charged and protons are positively charged.</a:t>
            </a:r>
          </a:p>
          <a:p>
            <a:pPr>
              <a:lnSpc>
                <a:spcPct val="150000"/>
              </a:lnSpc>
              <a:buFont typeface="Wingdings" pitchFamily="2" charset="2"/>
              <a:buChar char="ü"/>
            </a:pPr>
            <a:r>
              <a:rPr lang="en-US" sz="2000" dirty="0">
                <a:latin typeface="Doctor Soos Bold" pitchFamily="2" charset="0"/>
              </a:rPr>
              <a:t>Atom is neutral when the value of proton and electron is equal.</a:t>
            </a:r>
          </a:p>
          <a:p>
            <a:pPr>
              <a:lnSpc>
                <a:spcPct val="150000"/>
              </a:lnSpc>
              <a:buFont typeface="Wingdings" pitchFamily="2" charset="2"/>
              <a:buChar char="ü"/>
            </a:pPr>
            <a:r>
              <a:rPr lang="en-US" sz="2000" dirty="0">
                <a:latin typeface="Doctor Soos Bold" pitchFamily="2" charset="0"/>
              </a:rPr>
              <a:t>Neutron and proton has the same mass.</a:t>
            </a:r>
          </a:p>
          <a:p>
            <a:pPr>
              <a:lnSpc>
                <a:spcPct val="150000"/>
              </a:lnSpc>
              <a:buFont typeface="Wingdings" pitchFamily="2" charset="2"/>
              <a:buChar char="ü"/>
            </a:pPr>
            <a:r>
              <a:rPr lang="en-US" sz="2000" dirty="0">
                <a:latin typeface="Doctor Soos Bold" pitchFamily="2" charset="0"/>
              </a:rPr>
              <a:t>The number of neutron in a nucleus determines the weight of an atom.</a:t>
            </a:r>
          </a:p>
          <a:p>
            <a:pPr>
              <a:buFont typeface="Wingdings" pitchFamily="2" charset="2"/>
              <a:buChar char="ü"/>
            </a:pPr>
            <a:endParaRPr lang="en-US" sz="2000" dirty="0">
              <a:latin typeface="Doctor Soos Bold" pitchFamily="2" charset="0"/>
            </a:endParaRPr>
          </a:p>
          <a:p>
            <a:pPr>
              <a:buNone/>
            </a:pPr>
            <a:r>
              <a:rPr lang="en-US" sz="2000" dirty="0">
                <a:latin typeface="Doctor Soos Bold" pitchFamily="2" charset="0"/>
              </a:rPr>
              <a:t>	</a:t>
            </a:r>
          </a:p>
        </p:txBody>
      </p:sp>
      <p:pic>
        <p:nvPicPr>
          <p:cNvPr id="4" name="Picture 3" descr="500px-Bohr's_model.svg.png"/>
          <p:cNvPicPr>
            <a:picLocks noChangeAspect="1"/>
          </p:cNvPicPr>
          <p:nvPr/>
        </p:nvPicPr>
        <p:blipFill>
          <a:blip r:embed="rId2" cstate="print"/>
          <a:stretch>
            <a:fillRect/>
          </a:stretch>
        </p:blipFill>
        <p:spPr>
          <a:xfrm>
            <a:off x="4953000" y="990600"/>
            <a:ext cx="4495800" cy="3657600"/>
          </a:xfrm>
          <a:prstGeom prst="rect">
            <a:avLst/>
          </a:prstGeom>
        </p:spPr>
      </p:pic>
      <p:pic>
        <p:nvPicPr>
          <p:cNvPr id="10" name="Picture 9" descr="bg0Ji.gif"/>
          <p:cNvPicPr>
            <a:picLocks noChangeAspect="1"/>
          </p:cNvPicPr>
          <p:nvPr/>
        </p:nvPicPr>
        <p:blipFill>
          <a:blip r:embed="rId3" cstate="print"/>
          <a:stretch>
            <a:fillRect/>
          </a:stretch>
        </p:blipFill>
        <p:spPr>
          <a:xfrm>
            <a:off x="3124200" y="4724400"/>
            <a:ext cx="2362200" cy="1981200"/>
          </a:xfrm>
          <a:prstGeom prst="rect">
            <a:avLst/>
          </a:prstGeom>
        </p:spPr>
      </p:pic>
      <p:pic>
        <p:nvPicPr>
          <p:cNvPr id="5" name="Picture 4" descr="images.jpg"/>
          <p:cNvPicPr>
            <a:picLocks noChangeAspect="1"/>
          </p:cNvPicPr>
          <p:nvPr/>
        </p:nvPicPr>
        <p:blipFill>
          <a:blip r:embed="rId4" cstate="print"/>
          <a:stretch>
            <a:fillRect/>
          </a:stretch>
        </p:blipFill>
        <p:spPr>
          <a:xfrm>
            <a:off x="609600" y="4724400"/>
            <a:ext cx="2133600" cy="1981200"/>
          </a:xfrm>
          <a:prstGeom prst="rect">
            <a:avLst/>
          </a:prstGeom>
        </p:spPr>
      </p:pic>
      <p:pic>
        <p:nvPicPr>
          <p:cNvPr id="9" name="Picture 8" descr="9KyHC.gif"/>
          <p:cNvPicPr>
            <a:picLocks noChangeAspect="1"/>
          </p:cNvPicPr>
          <p:nvPr/>
        </p:nvPicPr>
        <p:blipFill>
          <a:blip r:embed="rId5" cstate="print"/>
          <a:stretch>
            <a:fillRect/>
          </a:stretch>
        </p:blipFill>
        <p:spPr>
          <a:xfrm>
            <a:off x="5791200" y="4648200"/>
            <a:ext cx="2438400" cy="2057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686800" cy="838200"/>
          </a:xfrm>
        </p:spPr>
        <p:txBody>
          <a:bodyPr>
            <a:normAutofit/>
          </a:bodyPr>
          <a:lstStyle/>
          <a:p>
            <a:r>
              <a:rPr lang="en-US" sz="3200" cap="none" dirty="0">
                <a:latin typeface="Doctor Soos Bold" pitchFamily="2" charset="0"/>
              </a:rPr>
              <a:t>BOHR</a:t>
            </a:r>
            <a:r>
              <a:rPr lang="en-US" sz="3200" cap="none" dirty="0">
                <a:latin typeface="Calibri"/>
              </a:rPr>
              <a:t>ᶦ</a:t>
            </a:r>
            <a:r>
              <a:rPr lang="en-US" sz="3200" cap="none" dirty="0">
                <a:latin typeface="Doctor Soos Bold" pitchFamily="2" charset="0"/>
              </a:rPr>
              <a:t>S THEORY</a:t>
            </a:r>
          </a:p>
        </p:txBody>
      </p:sp>
      <p:sp>
        <p:nvSpPr>
          <p:cNvPr id="3" name="Content Placeholder 2"/>
          <p:cNvSpPr>
            <a:spLocks noGrp="1"/>
          </p:cNvSpPr>
          <p:nvPr>
            <p:ph sz="quarter" idx="1"/>
          </p:nvPr>
        </p:nvSpPr>
        <p:spPr>
          <a:xfrm>
            <a:off x="304800" y="838200"/>
            <a:ext cx="8686800" cy="5791200"/>
          </a:xfrm>
        </p:spPr>
        <p:txBody>
          <a:bodyPr>
            <a:noAutofit/>
          </a:bodyPr>
          <a:lstStyle/>
          <a:p>
            <a:pPr>
              <a:buFont typeface="Wingdings" pitchFamily="2" charset="2"/>
              <a:buChar char="§"/>
            </a:pPr>
            <a:endParaRPr lang="en-US" sz="2000" dirty="0">
              <a:latin typeface="Doctor Soos Bold" pitchFamily="2" charset="0"/>
            </a:endParaRPr>
          </a:p>
          <a:p>
            <a:pPr>
              <a:buFont typeface="Wingdings" pitchFamily="2" charset="2"/>
              <a:buChar char="§"/>
            </a:pPr>
            <a:r>
              <a:rPr lang="en-US" sz="2000" dirty="0">
                <a:latin typeface="Doctor Soos Bold" pitchFamily="2" charset="0"/>
              </a:rPr>
              <a:t>According to Bohr's theory, electron orbit around the nucleus at a specific energy level.</a:t>
            </a:r>
          </a:p>
          <a:p>
            <a:pPr>
              <a:buFont typeface="Wingdings" pitchFamily="2" charset="2"/>
              <a:buChar char="§"/>
            </a:pPr>
            <a:r>
              <a:rPr lang="en-US" sz="2000" dirty="0">
                <a:latin typeface="Doctor Soos Bold" pitchFamily="2" charset="0"/>
              </a:rPr>
              <a:t>The orbit or shell that used by the electrons to orbit around the nucleus is </a:t>
            </a:r>
            <a:r>
              <a:rPr lang="en-US" sz="2000" dirty="0" err="1">
                <a:latin typeface="Doctor Soos Bold" pitchFamily="2" charset="0"/>
              </a:rPr>
              <a:t>labelled</a:t>
            </a:r>
            <a:r>
              <a:rPr lang="en-US" sz="2000" dirty="0">
                <a:latin typeface="Doctor Soos Bold" pitchFamily="2" charset="0"/>
              </a:rPr>
              <a:t> K,L,M and N.</a:t>
            </a:r>
          </a:p>
          <a:p>
            <a:pPr>
              <a:buFont typeface="Wingdings" pitchFamily="2" charset="2"/>
              <a:buChar char="§"/>
            </a:pPr>
            <a:r>
              <a:rPr lang="en-US" sz="2000" dirty="0">
                <a:latin typeface="Doctor Soos Bold" pitchFamily="2" charset="0"/>
              </a:rPr>
              <a:t>The number of electron in each orbit is given by the formula 2n², with “n” representing the orbit number of shell position from the nucleus (that is n=1, 2, 3, )</a:t>
            </a:r>
          </a:p>
          <a:p>
            <a:pPr lvl="5">
              <a:buFont typeface="Wingdings" pitchFamily="2" charset="2"/>
              <a:buChar char="ü"/>
            </a:pPr>
            <a:r>
              <a:rPr lang="en-US" sz="2000" dirty="0">
                <a:latin typeface="Doctor Soos Bold" pitchFamily="2" charset="0"/>
              </a:rPr>
              <a:t>Shell 1   = K</a:t>
            </a:r>
          </a:p>
          <a:p>
            <a:pPr lvl="5">
              <a:buFont typeface="Wingdings" pitchFamily="2" charset="2"/>
              <a:buChar char="ü"/>
            </a:pPr>
            <a:r>
              <a:rPr lang="en-US" sz="2000" dirty="0">
                <a:latin typeface="Doctor Soos Bold" pitchFamily="2" charset="0"/>
              </a:rPr>
              <a:t>Shell 2  = L</a:t>
            </a:r>
          </a:p>
          <a:p>
            <a:pPr lvl="5">
              <a:buFont typeface="Wingdings" pitchFamily="2" charset="2"/>
              <a:buChar char="ü"/>
            </a:pPr>
            <a:r>
              <a:rPr lang="en-US" sz="2000" dirty="0">
                <a:latin typeface="Doctor Soos Bold" pitchFamily="2" charset="0"/>
              </a:rPr>
              <a:t>Shell 3  =M</a:t>
            </a:r>
          </a:p>
          <a:p>
            <a:pPr>
              <a:buFont typeface="Wingdings" pitchFamily="2" charset="2"/>
              <a:buChar char="§"/>
            </a:pPr>
            <a:r>
              <a:rPr lang="en-US" sz="2000" dirty="0">
                <a:latin typeface="Doctor Soos Bold" pitchFamily="2" charset="0"/>
              </a:rPr>
              <a:t>Valence electron have the highest energy level.</a:t>
            </a:r>
          </a:p>
          <a:p>
            <a:pPr>
              <a:buFont typeface="Wingdings" pitchFamily="2" charset="2"/>
              <a:buChar char="§"/>
            </a:pPr>
            <a:r>
              <a:rPr lang="en-US" sz="2000" dirty="0">
                <a:latin typeface="Doctor Soos Bold" pitchFamily="2" charset="0"/>
              </a:rPr>
              <a:t>The number of valence electron is the different between the total electron in an atom and the total electron in orbit K, L, and M.</a:t>
            </a:r>
          </a:p>
          <a:p>
            <a:pPr>
              <a:buFont typeface="Wingdings" pitchFamily="2" charset="2"/>
              <a:buChar char="§"/>
            </a:pPr>
            <a:r>
              <a:rPr lang="en-US" sz="2000" dirty="0">
                <a:latin typeface="Doctor Soos Bold" pitchFamily="2" charset="0"/>
              </a:rPr>
              <a:t>The number of valence electron determines the classification of the element.  The classification are classified into three type  based on its ability to conduct current. ( conductor, insulator and semiconductor) </a:t>
            </a:r>
          </a:p>
          <a:p>
            <a:pPr>
              <a:buFont typeface="Wingdings" pitchFamily="2" charset="2"/>
              <a:buChar char="§"/>
            </a:pPr>
            <a:endParaRPr lang="en-US" sz="2000" dirty="0">
              <a:latin typeface="Doctor Soos Bold" pitchFamily="2" charset="0"/>
            </a:endParaRPr>
          </a:p>
        </p:txBody>
      </p:sp>
      <p:pic>
        <p:nvPicPr>
          <p:cNvPr id="4" name="Picture 3" descr="images (2).jpg"/>
          <p:cNvPicPr>
            <a:picLocks noChangeAspect="1"/>
          </p:cNvPicPr>
          <p:nvPr/>
        </p:nvPicPr>
        <p:blipFill>
          <a:blip r:embed="rId2" cstate="print"/>
          <a:stretch>
            <a:fillRect/>
          </a:stretch>
        </p:blipFill>
        <p:spPr>
          <a:xfrm>
            <a:off x="4114800" y="1752600"/>
            <a:ext cx="1752600" cy="152716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7772400" cy="1143000"/>
          </a:xfrm>
        </p:spPr>
        <p:txBody>
          <a:bodyPr>
            <a:noAutofit/>
          </a:bodyPr>
          <a:lstStyle/>
          <a:p>
            <a:r>
              <a:rPr lang="en-US" sz="4400" dirty="0">
                <a:latin typeface="Babe Bamboo" pitchFamily="2" charset="0"/>
              </a:rPr>
              <a:t>Band diagram</a:t>
            </a:r>
          </a:p>
        </p:txBody>
      </p:sp>
      <p:sp>
        <p:nvSpPr>
          <p:cNvPr id="3" name="Content Placeholder 2"/>
          <p:cNvSpPr>
            <a:spLocks noGrp="1"/>
          </p:cNvSpPr>
          <p:nvPr>
            <p:ph sz="quarter" idx="1"/>
          </p:nvPr>
        </p:nvSpPr>
        <p:spPr>
          <a:xfrm>
            <a:off x="304800" y="1219200"/>
            <a:ext cx="8686800" cy="5638800"/>
          </a:xfrm>
        </p:spPr>
        <p:txBody>
          <a:bodyPr>
            <a:normAutofit/>
          </a:bodyPr>
          <a:lstStyle/>
          <a:p>
            <a:pPr>
              <a:lnSpc>
                <a:spcPct val="150000"/>
              </a:lnSpc>
              <a:buFont typeface="Arial" pitchFamily="34" charset="0"/>
              <a:buChar char="•"/>
            </a:pPr>
            <a:endParaRPr lang="en-US" sz="2800" dirty="0">
              <a:latin typeface="Doctor Soos Bold" pitchFamily="2" charset="0"/>
            </a:endParaRPr>
          </a:p>
          <a:p>
            <a:pPr>
              <a:lnSpc>
                <a:spcPct val="150000"/>
              </a:lnSpc>
              <a:buFont typeface="Wingdings" pitchFamily="2" charset="2"/>
              <a:buChar char="§"/>
            </a:pPr>
            <a:r>
              <a:rPr lang="en-US" sz="2800" dirty="0">
                <a:latin typeface="Doctor Soos Bold" pitchFamily="2" charset="0"/>
              </a:rPr>
              <a:t>Electron in orbit contain kinetic and electric potential energy.</a:t>
            </a:r>
          </a:p>
          <a:p>
            <a:pPr>
              <a:lnSpc>
                <a:spcPct val="150000"/>
              </a:lnSpc>
              <a:buFont typeface="Wingdings" pitchFamily="2" charset="2"/>
              <a:buChar char="§"/>
            </a:pPr>
            <a:r>
              <a:rPr lang="en-US" sz="2800" dirty="0">
                <a:latin typeface="Doctor Soos Bold" pitchFamily="2" charset="0"/>
              </a:rPr>
              <a:t>Orbit of atom are referred to as energy levels.</a:t>
            </a:r>
          </a:p>
          <a:p>
            <a:pPr>
              <a:lnSpc>
                <a:spcPct val="150000"/>
              </a:lnSpc>
              <a:buFont typeface="Wingdings" pitchFamily="2" charset="2"/>
              <a:buChar char="§"/>
            </a:pPr>
            <a:r>
              <a:rPr lang="en-US" sz="2800" dirty="0">
                <a:latin typeface="Doctor Soos Bold" pitchFamily="2" charset="0"/>
              </a:rPr>
              <a:t>Random movement of electron in orbit is influenced by the combination of the electric field of atom and other nearby atoms.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Bohrup2.jpg"/>
          <p:cNvPicPr>
            <a:picLocks noGrp="1" noChangeAspect="1"/>
          </p:cNvPicPr>
          <p:nvPr>
            <p:ph sz="quarter" idx="1"/>
          </p:nvPr>
        </p:nvPicPr>
        <p:blipFill>
          <a:blip r:embed="rId2" cstate="print"/>
          <a:stretch>
            <a:fillRect/>
          </a:stretch>
        </p:blipFill>
        <p:spPr>
          <a:xfrm>
            <a:off x="5715000" y="304800"/>
            <a:ext cx="3265714" cy="2667000"/>
          </a:xfrm>
        </p:spPr>
      </p:pic>
      <p:pic>
        <p:nvPicPr>
          <p:cNvPr id="7" name="Picture 6" descr="Bohr Model of the Hydrogen Atom.jpg"/>
          <p:cNvPicPr>
            <a:picLocks noChangeAspect="1"/>
          </p:cNvPicPr>
          <p:nvPr/>
        </p:nvPicPr>
        <p:blipFill>
          <a:blip r:embed="rId3" cstate="print"/>
          <a:stretch>
            <a:fillRect/>
          </a:stretch>
        </p:blipFill>
        <p:spPr>
          <a:xfrm>
            <a:off x="163286" y="381000"/>
            <a:ext cx="57912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457200"/>
            <a:ext cx="8686800" cy="5622925"/>
          </a:xfrm>
        </p:spPr>
        <p:txBody>
          <a:bodyPr/>
          <a:lstStyle/>
          <a:p>
            <a:pPr>
              <a:buFont typeface="Wingdings" pitchFamily="2" charset="2"/>
              <a:buChar char="§"/>
            </a:pPr>
            <a:r>
              <a:rPr lang="en-US" sz="2400" b="1" dirty="0"/>
              <a:t>We will resolve the discussion of solids into three types, where bands are concerned:</a:t>
            </a:r>
          </a:p>
          <a:p>
            <a:pPr>
              <a:buNone/>
            </a:pPr>
            <a:endParaRPr lang="en-US" dirty="0"/>
          </a:p>
        </p:txBody>
      </p:sp>
      <p:pic>
        <p:nvPicPr>
          <p:cNvPr id="4" name="Picture 3" descr="conductorsetc.jpg"/>
          <p:cNvPicPr>
            <a:picLocks noChangeAspect="1"/>
          </p:cNvPicPr>
          <p:nvPr/>
        </p:nvPicPr>
        <p:blipFill>
          <a:blip r:embed="rId2" cstate="print"/>
          <a:stretch>
            <a:fillRect/>
          </a:stretch>
        </p:blipFill>
        <p:spPr>
          <a:xfrm>
            <a:off x="762000" y="1524000"/>
            <a:ext cx="6934200" cy="5029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energy bands.jpg"/>
          <p:cNvPicPr>
            <a:picLocks noGrp="1" noChangeAspect="1"/>
          </p:cNvPicPr>
          <p:nvPr>
            <p:ph sz="quarter" idx="1"/>
          </p:nvPr>
        </p:nvPicPr>
        <p:blipFill>
          <a:blip r:embed="rId2" cstate="print"/>
          <a:stretch>
            <a:fillRect/>
          </a:stretch>
        </p:blipFill>
        <p:spPr>
          <a:xfrm>
            <a:off x="533400" y="304800"/>
            <a:ext cx="8331200" cy="6248400"/>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band3.gif"/>
          <p:cNvPicPr>
            <a:picLocks noGrp="1" noChangeAspect="1"/>
          </p:cNvPicPr>
          <p:nvPr>
            <p:ph sz="quarter" idx="1"/>
          </p:nvPr>
        </p:nvPicPr>
        <p:blipFill>
          <a:blip r:embed="rId2" cstate="print">
            <a:lum bright="-40000" contrast="-30000"/>
          </a:blip>
          <a:stretch>
            <a:fillRect/>
          </a:stretch>
        </p:blipFill>
        <p:spPr>
          <a:xfrm>
            <a:off x="685800" y="419100"/>
            <a:ext cx="8026400" cy="6019800"/>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228600"/>
            <a:ext cx="8610600" cy="6629400"/>
          </a:xfrm>
        </p:spPr>
        <p:txBody>
          <a:bodyPr>
            <a:normAutofit/>
          </a:bodyPr>
          <a:lstStyle/>
          <a:p>
            <a:pPr>
              <a:buNone/>
            </a:pPr>
            <a:r>
              <a:rPr lang="en-US" sz="6000" b="1" dirty="0">
                <a:solidFill>
                  <a:schemeClr val="bg1">
                    <a:lumMod val="50000"/>
                  </a:schemeClr>
                </a:solidFill>
                <a:latin typeface="billieBoldHand" pitchFamily="2" charset="0"/>
              </a:rPr>
              <a:t>Insulator</a:t>
            </a:r>
          </a:p>
          <a:p>
            <a:pPr>
              <a:buFont typeface="Wingdings" pitchFamily="2" charset="2"/>
              <a:buChar char="§"/>
            </a:pPr>
            <a:endParaRPr lang="en-US" sz="2800" dirty="0">
              <a:latin typeface="Doctor Soos Bold" pitchFamily="2" charset="0"/>
            </a:endParaRPr>
          </a:p>
          <a:p>
            <a:pPr>
              <a:buFont typeface="Wingdings" pitchFamily="2" charset="2"/>
              <a:buChar char="§"/>
            </a:pPr>
            <a:r>
              <a:rPr lang="en-US" sz="3200" dirty="0"/>
              <a:t>An insulator is a material that does not conduct electrical current. Insulating materials include paper, plastic, rubber, glass and air. Vacuum is also an insulator, but is not actually a material. </a:t>
            </a:r>
          </a:p>
          <a:p>
            <a:pPr>
              <a:buFont typeface="Wingdings" pitchFamily="2" charset="2"/>
              <a:buChar char="§"/>
            </a:pPr>
            <a:r>
              <a:rPr lang="en-US" sz="3200" dirty="0"/>
              <a:t>Most electrical conductors are covered by insulation. Magnet wire is coated with an extremely thin layer of insulation so that more turns or larger wire may be used in the winding of transformers etc. </a:t>
            </a:r>
            <a:endParaRPr lang="en-US" sz="3200" dirty="0">
              <a:latin typeface="Doctor Soos Bold" pitchFamily="2" charset="0"/>
            </a:endParaRPr>
          </a:p>
          <a:p>
            <a:pPr>
              <a:buFont typeface="Wingdings" pitchFamily="2" charset="2"/>
              <a:buChar char="§"/>
            </a:pPr>
            <a:endParaRPr lang="en-US" sz="3600" dirty="0">
              <a:latin typeface="Doctor Soos Bold" pitchFamily="2"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6000" dirty="0">
                <a:latin typeface="billieBoldHand" pitchFamily="2" charset="0"/>
              </a:rPr>
              <a:t>Semiconductor</a:t>
            </a:r>
          </a:p>
        </p:txBody>
      </p:sp>
      <p:sp>
        <p:nvSpPr>
          <p:cNvPr id="3" name="Content Placeholder 2"/>
          <p:cNvSpPr>
            <a:spLocks noGrp="1"/>
          </p:cNvSpPr>
          <p:nvPr>
            <p:ph sz="quarter" idx="1"/>
          </p:nvPr>
        </p:nvSpPr>
        <p:spPr/>
        <p:txBody>
          <a:bodyPr>
            <a:noAutofit/>
          </a:bodyPr>
          <a:lstStyle/>
          <a:p>
            <a:pPr>
              <a:buFont typeface="Wingdings" pitchFamily="2" charset="2"/>
              <a:buChar char="§"/>
            </a:pPr>
            <a:r>
              <a:rPr lang="en-US" dirty="0">
                <a:latin typeface="Doctor Soos Bold" pitchFamily="2" charset="0"/>
              </a:rPr>
              <a:t>semiconductors there is a small enough gap between the valence and conduction bands that thermal or other excitations can bridge the gap. With such a small gap, the presence of a small percentage of a doping material can increase conductivity dramatically.</a:t>
            </a:r>
          </a:p>
          <a:p>
            <a:pPr>
              <a:buFont typeface="Wingdings" pitchFamily="2" charset="2"/>
              <a:buChar char="§"/>
            </a:pPr>
            <a:endParaRPr lang="en-US" dirty="0">
              <a:latin typeface="Doctor Soos Bold" pitchFamily="2" charset="0"/>
            </a:endParaRPr>
          </a:p>
          <a:p>
            <a:pPr>
              <a:buFont typeface="Wingdings" pitchFamily="2" charset="2"/>
              <a:buChar char="§"/>
            </a:pPr>
            <a:r>
              <a:rPr lang="en-US" dirty="0">
                <a:latin typeface="Doctor Soos Bold" pitchFamily="2" charset="0"/>
              </a:rPr>
              <a:t>where there is no conductivity at absolute zero and conductivity increases as temperature increases</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5400" dirty="0">
                <a:latin typeface="billieBoldHand" pitchFamily="2" charset="0"/>
              </a:rPr>
              <a:t>Conductor</a:t>
            </a:r>
          </a:p>
        </p:txBody>
      </p:sp>
      <p:sp>
        <p:nvSpPr>
          <p:cNvPr id="3" name="Content Placeholder 2"/>
          <p:cNvSpPr>
            <a:spLocks noGrp="1"/>
          </p:cNvSpPr>
          <p:nvPr>
            <p:ph sz="quarter" idx="1"/>
          </p:nvPr>
        </p:nvSpPr>
        <p:spPr/>
        <p:txBody>
          <a:bodyPr/>
          <a:lstStyle/>
          <a:p>
            <a:pPr>
              <a:buFont typeface="Wingdings" pitchFamily="2" charset="2"/>
              <a:buChar char="§"/>
            </a:pPr>
            <a:r>
              <a:rPr lang="en-US" dirty="0">
                <a:latin typeface="Doctor Soos Bold" pitchFamily="2" charset="0"/>
              </a:rPr>
              <a:t>conductors like metals the valence band overlaps the conduction band, </a:t>
            </a:r>
          </a:p>
          <a:p>
            <a:pPr>
              <a:buFont typeface="Wingdings" pitchFamily="2" charset="2"/>
              <a:buChar char="§"/>
            </a:pPr>
            <a:endParaRPr lang="en-US" dirty="0">
              <a:latin typeface="Doctor Soos Bold" pitchFamily="2" charset="0"/>
            </a:endParaRPr>
          </a:p>
          <a:p>
            <a:pPr>
              <a:buFont typeface="Wingdings" pitchFamily="2" charset="2"/>
              <a:buChar char="§"/>
            </a:pPr>
            <a:r>
              <a:rPr lang="en-US" dirty="0">
                <a:latin typeface="Doctor Soos Bold" pitchFamily="2" charset="0"/>
              </a:rPr>
              <a:t>where the electrons in the highest energy levels are free to move along delocalized energy levels.  </a:t>
            </a:r>
          </a:p>
          <a:p>
            <a:pPr>
              <a:buFont typeface="Wingdings" pitchFamily="2" charset="2"/>
              <a:buChar char="§"/>
            </a:pPr>
            <a:endParaRPr lang="en-US" dirty="0">
              <a:latin typeface="Doctor Soos Bold" pitchFamily="2" charset="0"/>
            </a:endParaRPr>
          </a:p>
          <a:p>
            <a:pPr>
              <a:buFont typeface="Wingdings" pitchFamily="2" charset="2"/>
              <a:buChar char="§"/>
            </a:pPr>
            <a:r>
              <a:rPr lang="en-US" dirty="0">
                <a:latin typeface="Doctor Soos Bold" pitchFamily="2" charset="0"/>
              </a:rPr>
              <a:t>Conductivity decreases as the temperature is raised.</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458200" cy="685800"/>
          </a:xfrm>
        </p:spPr>
        <p:txBody>
          <a:bodyPr>
            <a:noAutofit/>
          </a:bodyPr>
          <a:lstStyle/>
          <a:p>
            <a:r>
              <a:rPr lang="en-US" dirty="0">
                <a:latin typeface="Babe Bamboo" pitchFamily="2" charset="0"/>
              </a:rPr>
              <a:t>Current flow in semiconductor</a:t>
            </a:r>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1574316193"/>
              </p:ext>
            </p:extLst>
          </p:nvPr>
        </p:nvGraphicFramePr>
        <p:xfrm>
          <a:off x="304800" y="1127760"/>
          <a:ext cx="8534400" cy="5730240"/>
        </p:xfrm>
        <a:graphic>
          <a:graphicData uri="http://schemas.openxmlformats.org/drawingml/2006/table">
            <a:tbl>
              <a:tblPr firstRow="1" bandRow="1">
                <a:tableStyleId>{5C22544A-7EE6-4342-B048-85BDC9FD1C3A}</a:tableStyleId>
              </a:tblPr>
              <a:tblGrid>
                <a:gridCol w="44196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97489">
                <a:tc>
                  <a:txBody>
                    <a:bodyPr/>
                    <a:lstStyle/>
                    <a:p>
                      <a:pPr algn="ctr"/>
                      <a:r>
                        <a:rPr lang="en-US" sz="2800" dirty="0">
                          <a:solidFill>
                            <a:schemeClr val="tx1"/>
                          </a:solidFill>
                          <a:latin typeface="Doctor Soos Bold" pitchFamily="2" charset="0"/>
                        </a:rPr>
                        <a:t>N-type</a:t>
                      </a:r>
                      <a:r>
                        <a:rPr lang="en-US" sz="2800" baseline="0" dirty="0">
                          <a:solidFill>
                            <a:schemeClr val="tx1"/>
                          </a:solidFill>
                          <a:latin typeface="Doctor Soos Bold" pitchFamily="2" charset="0"/>
                        </a:rPr>
                        <a:t> Materials</a:t>
                      </a:r>
                      <a:endParaRPr lang="en-US" sz="2800" dirty="0">
                        <a:solidFill>
                          <a:schemeClr val="tx1"/>
                        </a:solidFill>
                        <a:latin typeface="Doctor Soos Bold" pitchFamily="2"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chemeClr val="tx1"/>
                          </a:solidFill>
                          <a:latin typeface="Doctor Soos Bold" pitchFamily="2" charset="0"/>
                        </a:rPr>
                        <a:t>P-type</a:t>
                      </a:r>
                      <a:r>
                        <a:rPr lang="en-US" sz="2800" baseline="0" dirty="0">
                          <a:solidFill>
                            <a:schemeClr val="tx1"/>
                          </a:solidFill>
                          <a:latin typeface="Doctor Soos Bold" pitchFamily="2" charset="0"/>
                        </a:rPr>
                        <a:t> Materials</a:t>
                      </a:r>
                      <a:endParaRPr lang="en-US" sz="2800" dirty="0">
                        <a:solidFill>
                          <a:schemeClr val="tx1"/>
                        </a:solidFill>
                        <a:latin typeface="Doctor Soos Bold" pitchFamily="2" charset="0"/>
                      </a:endParaRPr>
                    </a:p>
                  </a:txBody>
                  <a:tcPr/>
                </a:tc>
                <a:extLst>
                  <a:ext uri="{0D108BD9-81ED-4DB2-BD59-A6C34878D82A}">
                    <a16:rowId xmlns:a16="http://schemas.microsoft.com/office/drawing/2014/main" val="10000"/>
                  </a:ext>
                </a:extLst>
              </a:tr>
              <a:tr h="5004151">
                <a:tc>
                  <a:txBody>
                    <a:bodyPr/>
                    <a:lstStyle/>
                    <a:p>
                      <a:pPr>
                        <a:buFont typeface="Arial" pitchFamily="34" charset="0"/>
                        <a:buChar char="•"/>
                      </a:pPr>
                      <a:r>
                        <a:rPr lang="en-US" sz="1600" dirty="0">
                          <a:latin typeface="Doctor Soos Bold" pitchFamily="2" charset="0"/>
                        </a:rPr>
                        <a:t> </a:t>
                      </a:r>
                      <a:r>
                        <a:rPr lang="en-US" sz="2800" dirty="0">
                          <a:latin typeface="Doctor Soos Bold" pitchFamily="2" charset="0"/>
                        </a:rPr>
                        <a:t>Occur</a:t>
                      </a:r>
                      <a:r>
                        <a:rPr lang="en-US" sz="2800" baseline="0" dirty="0">
                          <a:latin typeface="Doctor Soos Bold" pitchFamily="2" charset="0"/>
                        </a:rPr>
                        <a:t> simultaneously in two ways:</a:t>
                      </a:r>
                    </a:p>
                    <a:p>
                      <a:pPr marL="1200150" lvl="2" indent="-285750">
                        <a:buFont typeface="+mj-lt"/>
                        <a:buAutoNum type="romanLcPeriod"/>
                      </a:pPr>
                      <a:r>
                        <a:rPr lang="en-US" sz="2800" baseline="0" dirty="0">
                          <a:latin typeface="Doctor Soos Bold" pitchFamily="2" charset="0"/>
                        </a:rPr>
                        <a:t>Flow of free electron in the conduction band which is the majority current carrier  </a:t>
                      </a:r>
                    </a:p>
                    <a:p>
                      <a:pPr marL="1200150" lvl="2" indent="-285750">
                        <a:buFont typeface="+mj-lt"/>
                        <a:buAutoNum type="romanLcPeriod"/>
                      </a:pPr>
                      <a:r>
                        <a:rPr lang="en-US" sz="2800" baseline="0" dirty="0">
                          <a:latin typeface="Doctor Soos Bold" pitchFamily="2" charset="0"/>
                        </a:rPr>
                        <a:t>Flow of holes in valence band which is the minority current carrier</a:t>
                      </a:r>
                    </a:p>
                    <a:p>
                      <a:pPr lvl="2">
                        <a:buFont typeface="Wingdings" pitchFamily="2" charset="2"/>
                        <a:buNone/>
                      </a:pPr>
                      <a:endParaRPr lang="en-US" sz="2800" dirty="0">
                        <a:latin typeface="Doctor Soos Bold" pitchFamily="2" charset="0"/>
                      </a:endParaRPr>
                    </a:p>
                  </a:txBody>
                  <a:tcPr/>
                </a:tc>
                <a:tc>
                  <a:txBody>
                    <a:bodyPr/>
                    <a:lstStyle/>
                    <a:p>
                      <a:pPr>
                        <a:buFont typeface="Arial" pitchFamily="34" charset="0"/>
                        <a:buChar char="•"/>
                      </a:pPr>
                      <a:r>
                        <a:rPr lang="en-US" sz="2800" dirty="0">
                          <a:latin typeface="Doctor Soos Bold" pitchFamily="2" charset="0"/>
                        </a:rPr>
                        <a:t>Occur</a:t>
                      </a:r>
                      <a:r>
                        <a:rPr lang="en-US" sz="2800" baseline="0" dirty="0">
                          <a:latin typeface="Doctor Soos Bold" pitchFamily="2" charset="0"/>
                        </a:rPr>
                        <a:t> simultaneously in two ways:</a:t>
                      </a:r>
                    </a:p>
                    <a:p>
                      <a:pPr marL="742950" lvl="1" indent="-285750">
                        <a:buFont typeface="+mj-lt"/>
                        <a:buAutoNum type="romanLcPeriod"/>
                      </a:pPr>
                      <a:r>
                        <a:rPr lang="en-US" sz="2800" baseline="0" dirty="0">
                          <a:latin typeface="Doctor Soos Bold" pitchFamily="2" charset="0"/>
                        </a:rPr>
                        <a:t>Flow of holes in the valence band which is the majority current carrier,</a:t>
                      </a:r>
                    </a:p>
                    <a:p>
                      <a:pPr marL="742950" lvl="1" indent="-285750">
                        <a:buFont typeface="+mj-lt"/>
                        <a:buAutoNum type="romanLcPeriod"/>
                      </a:pPr>
                      <a:r>
                        <a:rPr lang="en-US" sz="2800" baseline="0" dirty="0">
                          <a:latin typeface="Doctor Soos Bold" pitchFamily="2" charset="0"/>
                        </a:rPr>
                        <a:t>Flow of free electron in the conduction band which is the minority current carrier</a:t>
                      </a:r>
                      <a:r>
                        <a:rPr lang="en-US" sz="2400" baseline="0" dirty="0">
                          <a:latin typeface="Doctor Soos Bold" pitchFamily="2" charset="0"/>
                        </a:rPr>
                        <a:t>.</a:t>
                      </a:r>
                      <a:endParaRPr lang="en-US" sz="2400" dirty="0">
                        <a:latin typeface="Doctor Soos Bold" pitchFamily="2" charset="0"/>
                      </a:endParaRP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dirty="0">
                <a:latin typeface="Babe Bamboo" pitchFamily="2" charset="0"/>
              </a:rPr>
              <a:t>CURRENT FLOW IN N-TYPE MATERIALS</a:t>
            </a:r>
          </a:p>
        </p:txBody>
      </p:sp>
      <p:pic>
        <p:nvPicPr>
          <p:cNvPr id="4" name="Content Placeholder 3" descr="N TYPE.GIF"/>
          <p:cNvPicPr>
            <a:picLocks noGrp="1" noChangeAspect="1"/>
          </p:cNvPicPr>
          <p:nvPr>
            <p:ph sz="quarter" idx="1"/>
          </p:nvPr>
        </p:nvPicPr>
        <p:blipFill>
          <a:blip r:embed="rId2" cstate="print"/>
          <a:stretch>
            <a:fillRect/>
          </a:stretch>
        </p:blipFill>
        <p:spPr>
          <a:xfrm>
            <a:off x="838201" y="1568503"/>
            <a:ext cx="7924799" cy="4979299"/>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76200" y="381000"/>
            <a:ext cx="8839200" cy="6629400"/>
          </a:xfrm>
        </p:spPr>
        <p:txBody>
          <a:bodyPr>
            <a:normAutofit/>
          </a:bodyPr>
          <a:lstStyle/>
          <a:p>
            <a:pPr marL="228600" indent="-228600"/>
            <a:r>
              <a:rPr lang="en-US" dirty="0">
                <a:latin typeface="Doctor Soos Bold" pitchFamily="2" charset="0"/>
              </a:rPr>
              <a:t>N-Types extrinsic semiconductor connected to a voltage source. Electrons move to positive terminal of the voltage source.  Holes left behind because of the movement of the electron in the valence band seem to move to the negative terminal of the voltage source.</a:t>
            </a:r>
          </a:p>
          <a:p>
            <a:pPr marL="228600" indent="-228600"/>
            <a:r>
              <a:rPr lang="en-US" dirty="0">
                <a:latin typeface="Doctor Soos Bold" pitchFamily="2" charset="0"/>
              </a:rPr>
              <a:t>In N-types material, most of current is due to electron because they are majority carrier.  While holes are the minority carrier in N-types materials, thus the current due to holes is minimal.</a:t>
            </a:r>
          </a:p>
          <a:p>
            <a:pPr marL="228600" indent="-228600"/>
            <a:r>
              <a:rPr lang="en-US" dirty="0">
                <a:latin typeface="Doctor Soos Bold" pitchFamily="2" charset="0"/>
              </a:rPr>
              <a:t>When the temperature of the semiconductor is increased, more holes will be formed due to thermal energy.  The minority current from holes will increase.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Babe Bamboo" pitchFamily="2" charset="0"/>
              </a:rPr>
              <a:t>CURRENT FLOW IN P-TYPE MATERIALS</a:t>
            </a:r>
          </a:p>
        </p:txBody>
      </p:sp>
      <p:pic>
        <p:nvPicPr>
          <p:cNvPr id="4" name="Content Placeholder 3" descr="P TYPE.GIF"/>
          <p:cNvPicPr>
            <a:picLocks noGrp="1" noChangeAspect="1"/>
          </p:cNvPicPr>
          <p:nvPr>
            <p:ph sz="quarter" idx="1"/>
          </p:nvPr>
        </p:nvPicPr>
        <p:blipFill>
          <a:blip r:embed="rId2" cstate="print"/>
          <a:stretch>
            <a:fillRect/>
          </a:stretch>
        </p:blipFill>
        <p:spPr>
          <a:xfrm>
            <a:off x="658505" y="1843722"/>
            <a:ext cx="7826990" cy="4724400"/>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219200"/>
            <a:ext cx="8686800" cy="6019800"/>
          </a:xfrm>
        </p:spPr>
        <p:txBody>
          <a:bodyPr>
            <a:normAutofit/>
          </a:bodyPr>
          <a:lstStyle/>
          <a:p>
            <a:pPr marL="228600" indent="-228600"/>
            <a:r>
              <a:rPr lang="en-US" dirty="0">
                <a:latin typeface="Doctor Soos Bold" pitchFamily="2" charset="0"/>
              </a:rPr>
              <a:t>Holes repelled by the positive terminal of the voltage source will move towards the negative terminal of the voltage source.  Free electron will  move to the positive terminal of the voltage source.</a:t>
            </a:r>
          </a:p>
          <a:p>
            <a:pPr marL="228600" indent="-228600"/>
            <a:r>
              <a:rPr lang="en-US" dirty="0">
                <a:latin typeface="Doctor Soos Bold" pitchFamily="2" charset="0"/>
              </a:rPr>
              <a:t>Current in N-type materials is greater than the current in the P-type materials because the electron movement in the conduction band is much easier compared to holes movement in the valence band.</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Babe Bamboo" pitchFamily="2" charset="0"/>
              </a:rPr>
              <a:t>THE MOVEMENT OF HOLES IN P-TYPE MATERIALS</a:t>
            </a:r>
          </a:p>
        </p:txBody>
      </p:sp>
      <p:pic>
        <p:nvPicPr>
          <p:cNvPr id="4" name="Content Placeholder 3" descr="diode3.gif"/>
          <p:cNvPicPr>
            <a:picLocks noGrp="1" noChangeAspect="1"/>
          </p:cNvPicPr>
          <p:nvPr>
            <p:ph sz="quarter" idx="1"/>
          </p:nvPr>
        </p:nvPicPr>
        <p:blipFill>
          <a:blip r:embed="rId2" cstate="print"/>
          <a:stretch>
            <a:fillRect/>
          </a:stretch>
        </p:blipFill>
        <p:spPr>
          <a:xfrm>
            <a:off x="304800" y="1143000"/>
            <a:ext cx="8610600" cy="5715000"/>
          </a:xfr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686800" cy="990600"/>
          </a:xfrm>
        </p:spPr>
        <p:txBody>
          <a:bodyPr>
            <a:noAutofit/>
          </a:bodyPr>
          <a:lstStyle/>
          <a:p>
            <a:r>
              <a:rPr lang="en-US" sz="6000" dirty="0" err="1">
                <a:latin typeface="Doctor Soos Bold" pitchFamily="2" charset="0"/>
              </a:rPr>
              <a:t>Pn</a:t>
            </a:r>
            <a:r>
              <a:rPr lang="en-US" sz="6000" dirty="0">
                <a:latin typeface="Doctor Soos Bold" pitchFamily="2" charset="0"/>
              </a:rPr>
              <a:t> junction</a:t>
            </a:r>
          </a:p>
        </p:txBody>
      </p:sp>
      <p:pic>
        <p:nvPicPr>
          <p:cNvPr id="4" name="Content Placeholder 3" descr="pn2.gif"/>
          <p:cNvPicPr>
            <a:picLocks noGrp="1" noChangeAspect="1"/>
          </p:cNvPicPr>
          <p:nvPr>
            <p:ph sz="quarter" idx="1"/>
          </p:nvPr>
        </p:nvPicPr>
        <p:blipFill>
          <a:blip r:embed="rId2" cstate="print">
            <a:lum bright="-10000"/>
          </a:blip>
          <a:stretch>
            <a:fillRect/>
          </a:stretch>
        </p:blipFill>
        <p:spPr>
          <a:xfrm>
            <a:off x="2452687" y="2628900"/>
            <a:ext cx="4695825" cy="2209800"/>
          </a:xfrm>
        </p:spPr>
      </p:pic>
      <p:sp>
        <p:nvSpPr>
          <p:cNvPr id="6" name="TextBox 5"/>
          <p:cNvSpPr txBox="1"/>
          <p:nvPr/>
        </p:nvSpPr>
        <p:spPr>
          <a:xfrm>
            <a:off x="1371600" y="3810000"/>
            <a:ext cx="6019800" cy="346249"/>
          </a:xfrm>
          <a:prstGeom prst="rect">
            <a:avLst/>
          </a:prstGeom>
          <a:noFill/>
        </p:spPr>
        <p:txBody>
          <a:bodyPr wrap="square" rtlCol="0">
            <a:spAutoFit/>
          </a:bodyPr>
          <a:lstStyle/>
          <a:p>
            <a:pPr marL="400050" indent="-400050">
              <a:lnSpc>
                <a:spcPct val="150000"/>
              </a:lnSpc>
              <a:buFont typeface="+mj-lt"/>
              <a:buAutoNum type="romanLcPeriod"/>
            </a:pPr>
            <a:r>
              <a:rPr lang="en-US" sz="1200" dirty="0">
                <a:latin typeface="Doctor Soos Bold" pitchFamily="2" charset="0"/>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609600"/>
            <a:ext cx="8686800" cy="5181600"/>
          </a:xfrm>
        </p:spPr>
        <p:txBody>
          <a:bodyPr/>
          <a:lstStyle/>
          <a:p>
            <a:pPr marL="400050" indent="-400050">
              <a:lnSpc>
                <a:spcPct val="150000"/>
              </a:lnSpc>
              <a:buFont typeface="+mj-lt"/>
              <a:buAutoNum type="romanLcPeriod"/>
            </a:pPr>
            <a:r>
              <a:rPr lang="en-US" dirty="0">
                <a:latin typeface="Doctor Soos Bold" pitchFamily="2" charset="0"/>
              </a:rPr>
              <a:t>When the two materials P-types and N-Types are combined they formed  a PN junction.  </a:t>
            </a:r>
          </a:p>
          <a:p>
            <a:pPr marL="400050" indent="-400050">
              <a:lnSpc>
                <a:spcPct val="150000"/>
              </a:lnSpc>
              <a:buFont typeface="+mj-lt"/>
              <a:buAutoNum type="romanLcPeriod"/>
            </a:pPr>
            <a:r>
              <a:rPr lang="en-US" dirty="0">
                <a:latin typeface="Doctor Soos Bold" pitchFamily="2" charset="0"/>
              </a:rPr>
              <a:t>The different structure of P-types and N-types materials allows the creation of devices such as diodes, </a:t>
            </a:r>
            <a:r>
              <a:rPr lang="en-US" dirty="0" err="1">
                <a:latin typeface="Doctor Soos Bold" pitchFamily="2" charset="0"/>
              </a:rPr>
              <a:t>unijunction</a:t>
            </a:r>
            <a:r>
              <a:rPr lang="en-US" dirty="0">
                <a:latin typeface="Doctor Soos Bold" pitchFamily="2" charset="0"/>
              </a:rPr>
              <a:t> transistor, bipolar junction transistor and field effect transistor</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 </a:t>
            </a:r>
          </a:p>
        </p:txBody>
      </p:sp>
      <p:sp>
        <p:nvSpPr>
          <p:cNvPr id="3" name="Content Placeholder 2"/>
          <p:cNvSpPr>
            <a:spLocks noGrp="1"/>
          </p:cNvSpPr>
          <p:nvPr>
            <p:ph sz="quarter" idx="1"/>
          </p:nvPr>
        </p:nvSpPr>
        <p:spPr/>
        <p:txBody>
          <a:bodyPr/>
          <a:lstStyle/>
          <a:p>
            <a:r>
              <a:rPr lang="en-US" b="1" u="sng" dirty="0">
                <a:hlinkClick r:id="rId2"/>
              </a:rPr>
              <a:t>www.google.com</a:t>
            </a:r>
            <a:r>
              <a:rPr lang="en-US" b="1" u="sng" dirty="0"/>
              <a:t> </a:t>
            </a:r>
            <a:endParaRPr lang="en-US" dirty="0"/>
          </a:p>
          <a:p>
            <a:r>
              <a:rPr lang="en-US" b="1" u="sng" dirty="0">
                <a:hlinkClick r:id="rId3"/>
              </a:rPr>
              <a:t>www.wikipedia.com</a:t>
            </a:r>
            <a:r>
              <a:rPr lang="en-US" b="1" u="sng" dirty="0"/>
              <a:t> </a:t>
            </a:r>
            <a:endParaRPr lang="en-US" dirty="0"/>
          </a:p>
          <a:p>
            <a:r>
              <a:rPr lang="en-US" b="1" u="sng" dirty="0">
                <a:hlinkClick r:id="rId4"/>
              </a:rPr>
              <a:t>www.studymafia.org</a:t>
            </a:r>
            <a:r>
              <a:rPr lang="en-US" b="1" u="sng" dirty="0"/>
              <a:t> </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667000"/>
            <a:ext cx="7772400" cy="1143000"/>
          </a:xfrm>
        </p:spPr>
        <p:txBody>
          <a:bodyPr>
            <a:normAutofit/>
          </a:bodyPr>
          <a:lstStyle/>
          <a:p>
            <a:pPr algn="ctr"/>
            <a:r>
              <a:rPr lang="en-US" sz="6600" dirty="0"/>
              <a:t>Thanks </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2967</TotalTime>
  <Words>1104</Words>
  <Application>Microsoft Office PowerPoint</Application>
  <PresentationFormat>On-screen Show (4:3)</PresentationFormat>
  <Paragraphs>111</Paragraphs>
  <Slides>28</Slides>
  <Notes>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28</vt:i4>
      </vt:variant>
    </vt:vector>
  </HeadingPairs>
  <TitlesOfParts>
    <vt:vector size="42" baseType="lpstr">
      <vt:lpstr>Arial</vt:lpstr>
      <vt:lpstr>Babe Bamboo</vt:lpstr>
      <vt:lpstr>billieBoldHand</vt:lpstr>
      <vt:lpstr>Calibri</vt:lpstr>
      <vt:lpstr>Courier New</vt:lpstr>
      <vt:lpstr>Doctor Soos Bold</vt:lpstr>
      <vt:lpstr>Franklin Gothic Book</vt:lpstr>
      <vt:lpstr>Perpetua</vt:lpstr>
      <vt:lpstr>Times New Roman</vt:lpstr>
      <vt:lpstr>Trebuchet MS</vt:lpstr>
      <vt:lpstr>Verdana</vt:lpstr>
      <vt:lpstr>Wingdings</vt:lpstr>
      <vt:lpstr>Wingdings 2</vt:lpstr>
      <vt:lpstr>Equity</vt:lpstr>
      <vt:lpstr>PowerPoint Presentation</vt:lpstr>
      <vt:lpstr>Content </vt:lpstr>
      <vt:lpstr>Introduction</vt:lpstr>
      <vt:lpstr>TYPES OF SEMICONDUCTORS</vt:lpstr>
      <vt:lpstr>Intrinsic</vt:lpstr>
      <vt:lpstr>EXTRINSIC</vt:lpstr>
      <vt:lpstr>N-Type Material</vt:lpstr>
      <vt:lpstr>P-Type material</vt:lpstr>
      <vt:lpstr>Classification of materials</vt:lpstr>
      <vt:lpstr>BOHRᶦS THEORY</vt:lpstr>
      <vt:lpstr>Band diagram</vt:lpstr>
      <vt:lpstr>PowerPoint Presentation</vt:lpstr>
      <vt:lpstr>PowerPoint Presentation</vt:lpstr>
      <vt:lpstr>PowerPoint Presentation</vt:lpstr>
      <vt:lpstr>PowerPoint Presentation</vt:lpstr>
      <vt:lpstr>PowerPoint Presentation</vt:lpstr>
      <vt:lpstr>Semiconductor</vt:lpstr>
      <vt:lpstr>Conductor</vt:lpstr>
      <vt:lpstr>Current flow in semiconductor</vt:lpstr>
      <vt:lpstr>CURRENT FLOW IN N-TYPE MATERIALS</vt:lpstr>
      <vt:lpstr>PowerPoint Presentation</vt:lpstr>
      <vt:lpstr>CURRENT FLOW IN P-TYPE MATERIALS</vt:lpstr>
      <vt:lpstr>PowerPoint Presentation</vt:lpstr>
      <vt:lpstr>THE MOVEMENT OF HOLES IN P-TYPE MATERIALS</vt:lpstr>
      <vt:lpstr>Pn junction</vt:lpstr>
      <vt:lpstr>PowerPoint Presentation</vt:lpstr>
      <vt:lpstr>References </vt:lpstr>
      <vt:lpstr>Thanks </vt:lpstr>
    </vt:vector>
  </TitlesOfParts>
  <Company>KEMENTERIAN PELAJARAN MALAYSIA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SEMICONDUCTOR</dc:title>
  <dc:creator>S017</dc:creator>
  <cp:lastModifiedBy>Sumit Thakur</cp:lastModifiedBy>
  <cp:revision>262</cp:revision>
  <dcterms:created xsi:type="dcterms:W3CDTF">2013-06-13T03:31:11Z</dcterms:created>
  <dcterms:modified xsi:type="dcterms:W3CDTF">2021-10-05T06:07:47Z</dcterms:modified>
</cp:coreProperties>
</file>